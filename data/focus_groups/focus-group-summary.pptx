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29e8e9355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29e8e935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29e8e93550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29e8e9355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a:t>The idea was that these meetings would help us identify climate impacts and mitigation strategies that we missed in our research and to ensure that our study was comprehensive in terms of the types of mitigation strategies examined.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29e8e93550_0_3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29e8e93550_0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a:t>The idea was that these meetings would help us identify climate impacts and mitigation strategies that we missed in our research and to ensure that our study was comprehensive in terms of the types of mitigation strategies examined.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29e8e93550_0_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29e8e93550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en">
                <a:solidFill>
                  <a:schemeClr val="dk1"/>
                </a:solidFill>
              </a:rPr>
              <a:t>Massive effort to recruit people to join the meetings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Decided to go to Morro Bay and Eureka because they are near the OSW leases, and picked Newport based on suggestions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Did not have time to do our trip to the WA area before Ellen’s last day, didn’t pick a location yet for WA</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29e8e93550_0_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29e8e93550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SzPts val="1100"/>
              <a:buChar char="●"/>
            </a:pPr>
            <a:r>
              <a:rPr lang="en"/>
              <a:t>We completed 3 / 4 intended Focus Group Meetings</a:t>
            </a:r>
            <a:endParaRPr/>
          </a:p>
          <a:p>
            <a:pPr marL="457200" lvl="0" indent="-298450" algn="l" rtl="0">
              <a:lnSpc>
                <a:spcPct val="115000"/>
              </a:lnSpc>
              <a:spcBef>
                <a:spcPts val="0"/>
              </a:spcBef>
              <a:spcAft>
                <a:spcPts val="0"/>
              </a:spcAft>
              <a:buSzPts val="1100"/>
              <a:buChar char="●"/>
            </a:pPr>
            <a:r>
              <a:rPr lang="en"/>
              <a:t>Massive effort to recruit people to join the meetings</a:t>
            </a:r>
            <a:endParaRPr/>
          </a:p>
          <a:p>
            <a:pPr marL="457200" lvl="0" indent="-298450" algn="l" rtl="0">
              <a:lnSpc>
                <a:spcPct val="115000"/>
              </a:lnSpc>
              <a:spcBef>
                <a:spcPts val="0"/>
              </a:spcBef>
              <a:spcAft>
                <a:spcPts val="0"/>
              </a:spcAft>
              <a:buSzPts val="1100"/>
              <a:buChar char="●"/>
            </a:pPr>
            <a:r>
              <a:rPr lang="en"/>
              <a:t>Newport meeting coincided with a good fishing day, fewer participants</a:t>
            </a:r>
            <a:endParaRPr/>
          </a:p>
          <a:p>
            <a:pPr marL="457200" lvl="0" indent="-298450" algn="l" rtl="0">
              <a:lnSpc>
                <a:spcPct val="115000"/>
              </a:lnSpc>
              <a:spcBef>
                <a:spcPts val="0"/>
              </a:spcBef>
              <a:spcAft>
                <a:spcPts val="0"/>
              </a:spcAft>
              <a:buSzPts val="1100"/>
              <a:buChar char="●"/>
            </a:pPr>
            <a:r>
              <a:rPr lang="en"/>
              <a:t>Generally seemed like many of the participants have spent a lot of time having similar conversations</a:t>
            </a:r>
            <a:endParaRPr/>
          </a:p>
          <a:p>
            <a:pPr marL="457200" lvl="0" indent="0" algn="l" rtl="0">
              <a:lnSpc>
                <a:spcPct val="115000"/>
              </a:lnSpc>
              <a:spcBef>
                <a:spcPts val="1200"/>
              </a:spcBef>
              <a:spcAft>
                <a:spcPts val="120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29e8e93550_0_3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29e8e93550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SzPts val="1100"/>
              <a:buChar char="●"/>
            </a:pPr>
            <a:r>
              <a:rPr lang="en"/>
              <a:t>We used several different approaches to spark conversation about potential mitigations strategies to address challenges from climate change</a:t>
            </a:r>
            <a:endParaRPr/>
          </a:p>
          <a:p>
            <a:pPr marL="457200" lvl="0" indent="-298450" algn="l" rtl="0">
              <a:lnSpc>
                <a:spcPct val="115000"/>
              </a:lnSpc>
              <a:spcBef>
                <a:spcPts val="0"/>
              </a:spcBef>
              <a:spcAft>
                <a:spcPts val="0"/>
              </a:spcAft>
              <a:buSzPts val="1100"/>
              <a:buChar char="●"/>
            </a:pPr>
            <a:r>
              <a:rPr lang="en"/>
              <a:t>Post-its, flip charts, etc.</a:t>
            </a:r>
            <a:endParaRPr/>
          </a:p>
          <a:p>
            <a:pPr marL="457200" lvl="0" indent="-298450" algn="l" rtl="0">
              <a:lnSpc>
                <a:spcPct val="115000"/>
              </a:lnSpc>
              <a:spcBef>
                <a:spcPts val="0"/>
              </a:spcBef>
              <a:spcAft>
                <a:spcPts val="0"/>
              </a:spcAft>
              <a:buSzPts val="1100"/>
              <a:buChar char="●"/>
            </a:pPr>
            <a:r>
              <a:rPr lang="en"/>
              <a:t>And sometimes we did… but mostly participants wanted to talk about OSW development</a:t>
            </a:r>
            <a:endParaRPr/>
          </a:p>
          <a:p>
            <a:pPr marL="914400" lvl="1" indent="-298450" algn="l" rtl="0">
              <a:lnSpc>
                <a:spcPct val="115000"/>
              </a:lnSpc>
              <a:spcBef>
                <a:spcPts val="0"/>
              </a:spcBef>
              <a:spcAft>
                <a:spcPts val="0"/>
              </a:spcAft>
              <a:buSzPts val="1100"/>
              <a:buChar char="○"/>
            </a:pPr>
            <a:r>
              <a:rPr lang="en"/>
              <a:t>Participants both voiced concerns and wanted to ask questions </a:t>
            </a:r>
            <a:endParaRPr/>
          </a:p>
          <a:p>
            <a:pPr marL="457200" lvl="0" indent="0" algn="l" rtl="0">
              <a:lnSpc>
                <a:spcPct val="115000"/>
              </a:lnSpc>
              <a:spcBef>
                <a:spcPts val="1200"/>
              </a:spcBef>
              <a:spcAft>
                <a:spcPts val="120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29e8e93550_0_3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29e8e93550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endParaRPr dirty="0"/>
          </a:p>
          <a:p>
            <a:pPr marL="457200" lvl="0" indent="0" algn="l" rtl="0">
              <a:lnSpc>
                <a:spcPct val="115000"/>
              </a:lnSpc>
              <a:spcBef>
                <a:spcPts val="1200"/>
              </a:spcBef>
              <a:spcAft>
                <a:spcPts val="120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29e8e93550_0_4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29e8e93550_0_4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“Use the existing CA lease areas as case studies”</a:t>
            </a:r>
            <a:endParaRPr/>
          </a:p>
          <a:p>
            <a:pPr marL="457200" lvl="0" indent="0" algn="l" rtl="0">
              <a:lnSpc>
                <a:spcPct val="115000"/>
              </a:lnSpc>
              <a:spcBef>
                <a:spcPts val="1200"/>
              </a:spcBef>
              <a:spcAft>
                <a:spcPts val="120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29e8e93550_0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29e8e93550_0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lnSpc>
                <a:spcPct val="100000"/>
              </a:lnSpc>
              <a:spcBef>
                <a:spcPts val="0"/>
              </a:spcBef>
              <a:spcAft>
                <a:spcPts val="0"/>
              </a:spcAft>
              <a:buClr>
                <a:srgbClr val="595959"/>
              </a:buClr>
              <a:buSzPts val="1000"/>
              <a:buChar char="●"/>
            </a:pPr>
            <a:r>
              <a:rPr lang="en" sz="1000">
                <a:solidFill>
                  <a:srgbClr val="595959"/>
                </a:solidFill>
              </a:rPr>
              <a:t>Rushed, hasty, lacking appropriate analysis. </a:t>
            </a:r>
            <a:endParaRPr sz="1000">
              <a:solidFill>
                <a:srgbClr val="595959"/>
              </a:solidFill>
            </a:endParaRPr>
          </a:p>
          <a:p>
            <a:pPr marL="457200" lvl="0" indent="-292100" algn="l" rtl="0">
              <a:lnSpc>
                <a:spcPct val="100000"/>
              </a:lnSpc>
              <a:spcBef>
                <a:spcPts val="0"/>
              </a:spcBef>
              <a:spcAft>
                <a:spcPts val="0"/>
              </a:spcAft>
              <a:buClr>
                <a:srgbClr val="595959"/>
              </a:buClr>
              <a:buSzPts val="1000"/>
              <a:buChar char="●"/>
            </a:pPr>
            <a:r>
              <a:rPr lang="en" sz="1000">
                <a:solidFill>
                  <a:srgbClr val="595959"/>
                </a:solidFill>
              </a:rPr>
              <a:t>Assessment and analysis should come before leasing.</a:t>
            </a:r>
            <a:endParaRPr sz="1000">
              <a:solidFill>
                <a:srgbClr val="595959"/>
              </a:solidFill>
            </a:endParaRPr>
          </a:p>
          <a:p>
            <a:pPr marL="457200" lvl="0" indent="-292100" algn="l" rtl="0">
              <a:lnSpc>
                <a:spcPct val="100000"/>
              </a:lnSpc>
              <a:spcBef>
                <a:spcPts val="0"/>
              </a:spcBef>
              <a:spcAft>
                <a:spcPts val="0"/>
              </a:spcAft>
              <a:buClr>
                <a:srgbClr val="595959"/>
              </a:buClr>
              <a:buSzPts val="1000"/>
              <a:buChar char="●"/>
            </a:pPr>
            <a:r>
              <a:rPr lang="en" sz="1000">
                <a:solidFill>
                  <a:srgbClr val="595959"/>
                </a:solidFill>
              </a:rPr>
              <a:t>Trial/pilot projects should occur before massive rollout.</a:t>
            </a:r>
            <a:endParaRPr sz="1000">
              <a:solidFill>
                <a:srgbClr val="595959"/>
              </a:solidFill>
            </a:endParaRPr>
          </a:p>
          <a:p>
            <a:pPr marL="457200" lvl="0" indent="-292100" algn="l" rtl="0">
              <a:lnSpc>
                <a:spcPct val="100000"/>
              </a:lnSpc>
              <a:spcBef>
                <a:spcPts val="0"/>
              </a:spcBef>
              <a:spcAft>
                <a:spcPts val="0"/>
              </a:spcAft>
              <a:buClr>
                <a:srgbClr val="595959"/>
              </a:buClr>
              <a:buSzPts val="1000"/>
              <a:buChar char="●"/>
            </a:pPr>
            <a:r>
              <a:rPr lang="en" sz="1000">
                <a:solidFill>
                  <a:srgbClr val="595959"/>
                </a:solidFill>
              </a:rPr>
              <a:t>Lack of transparency, honesty, knowledge, and competence. </a:t>
            </a:r>
            <a:endParaRPr sz="1000">
              <a:solidFill>
                <a:srgbClr val="595959"/>
              </a:solidFill>
            </a:endParaRPr>
          </a:p>
          <a:p>
            <a:pPr marL="457200" lvl="0" indent="-292100" algn="l" rtl="0">
              <a:lnSpc>
                <a:spcPct val="100000"/>
              </a:lnSpc>
              <a:spcBef>
                <a:spcPts val="0"/>
              </a:spcBef>
              <a:spcAft>
                <a:spcPts val="0"/>
              </a:spcAft>
              <a:buClr>
                <a:srgbClr val="595959"/>
              </a:buClr>
              <a:buSzPts val="1000"/>
              <a:buChar char="●"/>
            </a:pPr>
            <a:r>
              <a:rPr lang="en" sz="1000">
                <a:solidFill>
                  <a:srgbClr val="595959"/>
                </a:solidFill>
              </a:rPr>
              <a:t>Inadequate communication with BOEM.</a:t>
            </a:r>
            <a:endParaRPr sz="1000">
              <a:solidFill>
                <a:srgbClr val="595959"/>
              </a:solidFill>
            </a:endParaRPr>
          </a:p>
          <a:p>
            <a:pPr marL="457200" lvl="0" indent="-292100" algn="l" rtl="0">
              <a:lnSpc>
                <a:spcPct val="100000"/>
              </a:lnSpc>
              <a:spcBef>
                <a:spcPts val="0"/>
              </a:spcBef>
              <a:spcAft>
                <a:spcPts val="0"/>
              </a:spcAft>
              <a:buClr>
                <a:srgbClr val="595959"/>
              </a:buClr>
              <a:buSzPts val="1000"/>
              <a:buChar char="●"/>
            </a:pPr>
            <a:r>
              <a:rPr lang="en" sz="1000">
                <a:solidFill>
                  <a:srgbClr val="595959"/>
                </a:solidFill>
              </a:rPr>
              <a:t>Desire for more meaningful collaboration and discussion with BOEM and OSW companies earlier in process</a:t>
            </a:r>
            <a:endParaRPr sz="1000">
              <a:solidFill>
                <a:srgbClr val="595959"/>
              </a:solidFill>
            </a:endParaRPr>
          </a:p>
          <a:p>
            <a:pPr marL="914400" lvl="1" indent="-292100" algn="l" rtl="0">
              <a:lnSpc>
                <a:spcPct val="100000"/>
              </a:lnSpc>
              <a:spcBef>
                <a:spcPts val="0"/>
              </a:spcBef>
              <a:spcAft>
                <a:spcPts val="0"/>
              </a:spcAft>
              <a:buClr>
                <a:srgbClr val="595959"/>
              </a:buClr>
              <a:buSzPts val="1000"/>
              <a:buChar char="○"/>
            </a:pPr>
            <a:r>
              <a:rPr lang="en" sz="1000" b="1">
                <a:solidFill>
                  <a:srgbClr val="595959"/>
                </a:solidFill>
              </a:rPr>
              <a:t>This includes siting</a:t>
            </a:r>
            <a:endParaRPr sz="1000" b="1">
              <a:solidFill>
                <a:srgbClr val="595959"/>
              </a:solidFill>
            </a:endParaRPr>
          </a:p>
          <a:p>
            <a:pPr marL="457200" lvl="0" indent="-292100" algn="l" rtl="0">
              <a:lnSpc>
                <a:spcPct val="100000"/>
              </a:lnSpc>
              <a:spcBef>
                <a:spcPts val="0"/>
              </a:spcBef>
              <a:spcAft>
                <a:spcPts val="0"/>
              </a:spcAft>
              <a:buClr>
                <a:srgbClr val="595959"/>
              </a:buClr>
              <a:buSzPts val="1000"/>
              <a:buChar char="●"/>
            </a:pPr>
            <a:r>
              <a:rPr lang="en" sz="1000">
                <a:solidFill>
                  <a:srgbClr val="595959"/>
                </a:solidFill>
              </a:rPr>
              <a:t>Valuation estimates will not capture full estimate of area of resources (“good”/ “bad” areas change, hard to value upwelling ecosystem, etc.)</a:t>
            </a:r>
            <a:endParaRPr sz="1000">
              <a:solidFill>
                <a:srgbClr val="595959"/>
              </a:solidFill>
            </a:endParaRPr>
          </a:p>
          <a:p>
            <a:pPr marL="914400" lvl="1" indent="-292100" algn="l" rtl="0">
              <a:lnSpc>
                <a:spcPct val="100000"/>
              </a:lnSpc>
              <a:spcBef>
                <a:spcPts val="0"/>
              </a:spcBef>
              <a:spcAft>
                <a:spcPts val="0"/>
              </a:spcAft>
              <a:buClr>
                <a:srgbClr val="595959"/>
              </a:buClr>
              <a:buSzPts val="1000"/>
              <a:buChar char="○"/>
            </a:pPr>
            <a:r>
              <a:rPr lang="en" sz="1000" b="1">
                <a:solidFill>
                  <a:srgbClr val="595959"/>
                </a:solidFill>
              </a:rPr>
              <a:t>E.g., it might not look like the lease area in morro bay is valuable now (not that much fishing there) but changes in markets or fish behavior could change that.</a:t>
            </a:r>
            <a:endParaRPr sz="1000" b="1">
              <a:solidFill>
                <a:srgbClr val="595959"/>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29e8e93550_0_4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29e8e93550_0_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rgbClr val="595959"/>
              </a:buClr>
              <a:buSzPts val="1000"/>
              <a:buChar char="●"/>
            </a:pPr>
            <a:r>
              <a:rPr lang="en" sz="1000">
                <a:solidFill>
                  <a:srgbClr val="595959"/>
                </a:solidFill>
              </a:rPr>
              <a:t>“Regulated to extinction.” Already squeezed by area closures; single-species management not working for some species</a:t>
            </a:r>
            <a:endParaRPr sz="1000">
              <a:solidFill>
                <a:srgbClr val="595959"/>
              </a:solidFill>
            </a:endParaRPr>
          </a:p>
          <a:p>
            <a:pPr marL="457200" lvl="0" indent="-292100" algn="l" rtl="0">
              <a:spcBef>
                <a:spcPts val="0"/>
              </a:spcBef>
              <a:spcAft>
                <a:spcPts val="0"/>
              </a:spcAft>
              <a:buClr>
                <a:srgbClr val="595959"/>
              </a:buClr>
              <a:buSzPts val="1000"/>
              <a:buChar char="●"/>
            </a:pPr>
            <a:r>
              <a:rPr lang="en" sz="1000">
                <a:solidFill>
                  <a:srgbClr val="595959"/>
                </a:solidFill>
              </a:rPr>
              <a:t>Unfavorable market conditions. </a:t>
            </a:r>
            <a:endParaRPr sz="1000">
              <a:solidFill>
                <a:srgbClr val="595959"/>
              </a:solidFill>
            </a:endParaRPr>
          </a:p>
          <a:p>
            <a:pPr marL="914400" lvl="1" indent="-292100" algn="l" rtl="0">
              <a:spcBef>
                <a:spcPts val="0"/>
              </a:spcBef>
              <a:spcAft>
                <a:spcPts val="0"/>
              </a:spcAft>
              <a:buClr>
                <a:srgbClr val="595959"/>
              </a:buClr>
              <a:buSzPts val="1000"/>
              <a:buChar char="○"/>
            </a:pPr>
            <a:r>
              <a:rPr lang="en" sz="1000">
                <a:solidFill>
                  <a:srgbClr val="595959"/>
                </a:solidFill>
              </a:rPr>
              <a:t>Lack of market for species like anchovy, sardine, sablefish, and price drops for harvested species like dungeness crab</a:t>
            </a:r>
            <a:endParaRPr sz="1000">
              <a:solidFill>
                <a:srgbClr val="595959"/>
              </a:solidFill>
            </a:endParaRPr>
          </a:p>
          <a:p>
            <a:pPr marL="914400" lvl="1" indent="-292100" algn="l" rtl="0">
              <a:spcBef>
                <a:spcPts val="0"/>
              </a:spcBef>
              <a:spcAft>
                <a:spcPts val="0"/>
              </a:spcAft>
              <a:buClr>
                <a:srgbClr val="595959"/>
              </a:buClr>
              <a:buSzPts val="1000"/>
              <a:buChar char="○"/>
            </a:pPr>
            <a:r>
              <a:rPr lang="en" sz="1000">
                <a:solidFill>
                  <a:srgbClr val="595959"/>
                </a:solidFill>
              </a:rPr>
              <a:t>Increasing costs (in part due to inflation) while catches remain the same</a:t>
            </a:r>
            <a:endParaRPr sz="1000">
              <a:solidFill>
                <a:srgbClr val="595959"/>
              </a:solidFill>
            </a:endParaRPr>
          </a:p>
          <a:p>
            <a:pPr marL="914400" lvl="1" indent="-292100" algn="l" rtl="0">
              <a:spcBef>
                <a:spcPts val="0"/>
              </a:spcBef>
              <a:spcAft>
                <a:spcPts val="0"/>
              </a:spcAft>
              <a:buClr>
                <a:srgbClr val="595959"/>
              </a:buClr>
              <a:buSzPts val="1000"/>
              <a:buChar char="○"/>
            </a:pPr>
            <a:r>
              <a:rPr lang="en" sz="1000">
                <a:solidFill>
                  <a:srgbClr val="595959"/>
                </a:solidFill>
              </a:rPr>
              <a:t>Fewer processors and buyers, and buyers can have tremendous leverage</a:t>
            </a:r>
            <a:endParaRPr sz="1000">
              <a:solidFill>
                <a:srgbClr val="595959"/>
              </a:solidFill>
            </a:endParaRPr>
          </a:p>
          <a:p>
            <a:pPr marL="914400" lvl="1" indent="-292100" algn="l" rtl="0">
              <a:spcBef>
                <a:spcPts val="0"/>
              </a:spcBef>
              <a:spcAft>
                <a:spcPts val="0"/>
              </a:spcAft>
              <a:buClr>
                <a:srgbClr val="595959"/>
              </a:buClr>
              <a:buSzPts val="1000"/>
              <a:buChar char="○"/>
            </a:pPr>
            <a:r>
              <a:rPr lang="en" sz="1000">
                <a:solidFill>
                  <a:srgbClr val="595959"/>
                </a:solidFill>
              </a:rPr>
              <a:t>Hard to compete less sustainable imported seafood, which is cheaper to produce because they are subject to much weaker environmental and social standards</a:t>
            </a:r>
            <a:endParaRPr sz="1000">
              <a:solidFill>
                <a:srgbClr val="595959"/>
              </a:solidFill>
            </a:endParaRPr>
          </a:p>
          <a:p>
            <a:pPr marL="457200" lvl="0" indent="-292100" algn="l" rtl="0">
              <a:spcBef>
                <a:spcPts val="0"/>
              </a:spcBef>
              <a:spcAft>
                <a:spcPts val="0"/>
              </a:spcAft>
              <a:buClr>
                <a:srgbClr val="595959"/>
              </a:buClr>
              <a:buSzPts val="1000"/>
              <a:buChar char="●"/>
            </a:pPr>
            <a:r>
              <a:rPr lang="en" sz="1000">
                <a:solidFill>
                  <a:srgbClr val="595959"/>
                </a:solidFill>
              </a:rPr>
              <a:t>Lack of infrastructure.</a:t>
            </a:r>
            <a:endParaRPr sz="1000">
              <a:solidFill>
                <a:srgbClr val="595959"/>
              </a:solidFill>
            </a:endParaRPr>
          </a:p>
          <a:p>
            <a:pPr marL="914400" lvl="1" indent="-292100" algn="l" rtl="0">
              <a:spcBef>
                <a:spcPts val="0"/>
              </a:spcBef>
              <a:spcAft>
                <a:spcPts val="0"/>
              </a:spcAft>
              <a:buClr>
                <a:srgbClr val="595959"/>
              </a:buClr>
              <a:buSzPts val="1000"/>
              <a:buChar char="○"/>
            </a:pPr>
            <a:r>
              <a:rPr lang="en" sz="1000">
                <a:solidFill>
                  <a:srgbClr val="595959"/>
                </a:solidFill>
              </a:rPr>
              <a:t>Lack of cold storage and processors - it’s too expensive</a:t>
            </a:r>
            <a:endParaRPr sz="1000">
              <a:solidFill>
                <a:srgbClr val="595959"/>
              </a:solidFill>
            </a:endParaRPr>
          </a:p>
          <a:p>
            <a:pPr marL="457200" lvl="0" indent="-292100" algn="l" rtl="0">
              <a:spcBef>
                <a:spcPts val="0"/>
              </a:spcBef>
              <a:spcAft>
                <a:spcPts val="0"/>
              </a:spcAft>
              <a:buClr>
                <a:srgbClr val="595959"/>
              </a:buClr>
              <a:buSzPts val="1000"/>
              <a:buChar char="●"/>
            </a:pPr>
            <a:r>
              <a:rPr lang="en" sz="1000">
                <a:solidFill>
                  <a:srgbClr val="595959"/>
                </a:solidFill>
              </a:rPr>
              <a:t>Lack of support/public awareness.</a:t>
            </a:r>
            <a:endParaRPr sz="1000">
              <a:solidFill>
                <a:srgbClr val="595959"/>
              </a:solidFill>
            </a:endParaRPr>
          </a:p>
          <a:p>
            <a:pPr marL="914400" lvl="1" indent="-292100" algn="l" rtl="0">
              <a:spcBef>
                <a:spcPts val="0"/>
              </a:spcBef>
              <a:spcAft>
                <a:spcPts val="0"/>
              </a:spcAft>
              <a:buClr>
                <a:srgbClr val="595959"/>
              </a:buClr>
              <a:buSzPts val="1000"/>
              <a:buChar char="○"/>
            </a:pPr>
            <a:r>
              <a:rPr lang="en" sz="1000">
                <a:solidFill>
                  <a:srgbClr val="595959"/>
                </a:solidFill>
              </a:rPr>
              <a:t>NOTE. OR participants feel supported by state government. CA does not. Both feel that they can’t compete with foreign product and that federal action could help level the playing field. Also they are not as supported as the agriculture sector, fore example.</a:t>
            </a:r>
            <a:endParaRPr sz="1000">
              <a:solidFill>
                <a:srgbClr val="595959"/>
              </a:solidFill>
            </a:endParaRPr>
          </a:p>
          <a:p>
            <a:pPr marL="457200" lvl="0" indent="-292100" algn="l" rtl="0">
              <a:spcBef>
                <a:spcPts val="0"/>
              </a:spcBef>
              <a:spcAft>
                <a:spcPts val="0"/>
              </a:spcAft>
              <a:buClr>
                <a:srgbClr val="595959"/>
              </a:buClr>
              <a:buSzPts val="1000"/>
              <a:buChar char="●"/>
            </a:pPr>
            <a:r>
              <a:rPr lang="en" sz="1000">
                <a:solidFill>
                  <a:srgbClr val="595959"/>
                </a:solidFill>
              </a:rPr>
              <a:t>Everything is expensive</a:t>
            </a:r>
            <a:endParaRPr sz="1000">
              <a:solidFill>
                <a:srgbClr val="595959"/>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29e8e93550_0_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29e8e93550_0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rgbClr val="595959"/>
              </a:buClr>
              <a:buSzPts val="1100"/>
              <a:buChar char="●"/>
            </a:pPr>
            <a:r>
              <a:rPr lang="en">
                <a:solidFill>
                  <a:srgbClr val="595959"/>
                </a:solidFill>
              </a:rPr>
              <a:t>OSW will disrupt fishing activity.</a:t>
            </a:r>
            <a:endParaRPr>
              <a:solidFill>
                <a:srgbClr val="595959"/>
              </a:solidFill>
            </a:endParaRPr>
          </a:p>
          <a:p>
            <a:pPr marL="914400" lvl="1" indent="-298450" algn="l" rtl="0">
              <a:spcBef>
                <a:spcPts val="0"/>
              </a:spcBef>
              <a:spcAft>
                <a:spcPts val="0"/>
              </a:spcAft>
              <a:buClr>
                <a:srgbClr val="595959"/>
              </a:buClr>
              <a:buSzPts val="1100"/>
              <a:buChar char="○"/>
            </a:pPr>
            <a:r>
              <a:rPr lang="en">
                <a:solidFill>
                  <a:srgbClr val="595959"/>
                </a:solidFill>
              </a:rPr>
              <a:t>Increased vessel traffic and potential changes in how agencies control fleet movements</a:t>
            </a:r>
            <a:endParaRPr>
              <a:solidFill>
                <a:srgbClr val="595959"/>
              </a:solidFill>
            </a:endParaRPr>
          </a:p>
          <a:p>
            <a:pPr marL="914400" lvl="1" indent="-298450" algn="l" rtl="0">
              <a:spcBef>
                <a:spcPts val="0"/>
              </a:spcBef>
              <a:spcAft>
                <a:spcPts val="0"/>
              </a:spcAft>
              <a:buClr>
                <a:srgbClr val="595959"/>
              </a:buClr>
              <a:buSzPts val="1100"/>
              <a:buChar char="○"/>
            </a:pPr>
            <a:r>
              <a:rPr lang="en">
                <a:solidFill>
                  <a:srgbClr val="595959"/>
                </a:solidFill>
              </a:rPr>
              <a:t>Safety concerns with increased traffic and congestion</a:t>
            </a:r>
            <a:endParaRPr>
              <a:solidFill>
                <a:srgbClr val="595959"/>
              </a:solidFill>
            </a:endParaRPr>
          </a:p>
          <a:p>
            <a:pPr marL="914400" lvl="1" indent="-298450" algn="l" rtl="0">
              <a:spcBef>
                <a:spcPts val="0"/>
              </a:spcBef>
              <a:spcAft>
                <a:spcPts val="0"/>
              </a:spcAft>
              <a:buClr>
                <a:srgbClr val="595959"/>
              </a:buClr>
              <a:buSzPts val="1100"/>
              <a:buChar char="○"/>
            </a:pPr>
            <a:r>
              <a:rPr lang="en">
                <a:solidFill>
                  <a:srgbClr val="595959"/>
                </a:solidFill>
              </a:rPr>
              <a:t>Risk to essential habitat/spawning grounds (latter is a concern for Coos Bay)</a:t>
            </a:r>
            <a:endParaRPr>
              <a:solidFill>
                <a:srgbClr val="595959"/>
              </a:solidFill>
            </a:endParaRPr>
          </a:p>
          <a:p>
            <a:pPr marL="914400" lvl="1" indent="-298450" algn="l" rtl="0">
              <a:spcBef>
                <a:spcPts val="0"/>
              </a:spcBef>
              <a:spcAft>
                <a:spcPts val="0"/>
              </a:spcAft>
              <a:buClr>
                <a:srgbClr val="595959"/>
              </a:buClr>
              <a:buSzPts val="1100"/>
              <a:buChar char="○"/>
            </a:pPr>
            <a:r>
              <a:rPr lang="en">
                <a:solidFill>
                  <a:srgbClr val="595959"/>
                </a:solidFill>
              </a:rPr>
              <a:t>Unknown risks to fisheries resources (e.g., upwelling, cumulative effects, and cables).</a:t>
            </a:r>
            <a:endParaRPr>
              <a:solidFill>
                <a:srgbClr val="595959"/>
              </a:solidFill>
            </a:endParaRPr>
          </a:p>
          <a:p>
            <a:pPr marL="457200" lvl="0" indent="-298450" algn="l" rtl="0">
              <a:spcBef>
                <a:spcPts val="0"/>
              </a:spcBef>
              <a:spcAft>
                <a:spcPts val="0"/>
              </a:spcAft>
              <a:buClr>
                <a:srgbClr val="595959"/>
              </a:buClr>
              <a:buSzPts val="1100"/>
              <a:buChar char="●"/>
            </a:pPr>
            <a:r>
              <a:rPr lang="en">
                <a:solidFill>
                  <a:srgbClr val="595959"/>
                </a:solidFill>
              </a:rPr>
              <a:t>Another hit</a:t>
            </a:r>
            <a:endParaRPr>
              <a:solidFill>
                <a:srgbClr val="595959"/>
              </a:solidFill>
            </a:endParaRPr>
          </a:p>
          <a:p>
            <a:pPr marL="914400" lvl="1" indent="-298450" algn="l" rtl="0">
              <a:spcBef>
                <a:spcPts val="0"/>
              </a:spcBef>
              <a:spcAft>
                <a:spcPts val="0"/>
              </a:spcAft>
              <a:buClr>
                <a:srgbClr val="595959"/>
              </a:buClr>
              <a:buSzPts val="1100"/>
              <a:buChar char="○"/>
            </a:pPr>
            <a:r>
              <a:rPr lang="en">
                <a:solidFill>
                  <a:srgbClr val="595959"/>
                </a:solidFill>
              </a:rPr>
              <a:t>The margins really do seem razor thin</a:t>
            </a:r>
            <a:endParaRPr>
              <a:solidFill>
                <a:srgbClr val="595959"/>
              </a:solidFill>
            </a:endParaRPr>
          </a:p>
          <a:p>
            <a:pPr marL="457200" lvl="0" indent="0" algn="l" rtl="0">
              <a:spcBef>
                <a:spcPts val="1000"/>
              </a:spcBef>
              <a:spcAft>
                <a:spcPts val="1000"/>
              </a:spcAft>
              <a:buNone/>
            </a:pPr>
            <a:endParaRPr>
              <a:solidFill>
                <a:srgbClr val="595959"/>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29e8e93550_0_4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29e8e93550_0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rgbClr val="595959"/>
              </a:buClr>
              <a:buSzPts val="1100"/>
              <a:buChar char="●"/>
            </a:pPr>
            <a:r>
              <a:rPr lang="en">
                <a:solidFill>
                  <a:srgbClr val="595959"/>
                </a:solidFill>
              </a:rPr>
              <a:t>Clear communication regarding scale and scope of OSW. Fishermen can’t anticipate impacts without this info</a:t>
            </a:r>
            <a:endParaRPr>
              <a:solidFill>
                <a:srgbClr val="595959"/>
              </a:solidFill>
            </a:endParaRPr>
          </a:p>
          <a:p>
            <a:pPr marL="457200" lvl="0" indent="-298450" algn="l" rtl="0">
              <a:spcBef>
                <a:spcPts val="0"/>
              </a:spcBef>
              <a:spcAft>
                <a:spcPts val="0"/>
              </a:spcAft>
              <a:buClr>
                <a:srgbClr val="595959"/>
              </a:buClr>
              <a:buSzPts val="1100"/>
              <a:buChar char="●"/>
            </a:pPr>
            <a:r>
              <a:rPr lang="en">
                <a:solidFill>
                  <a:srgbClr val="595959"/>
                </a:solidFill>
              </a:rPr>
              <a:t>Monitoring, enforcement, and transparency related to impacts from OSW.</a:t>
            </a:r>
            <a:endParaRPr>
              <a:solidFill>
                <a:srgbClr val="595959"/>
              </a:solidFill>
            </a:endParaRPr>
          </a:p>
          <a:p>
            <a:pPr marL="914400" lvl="1" indent="-298450" algn="l" rtl="0">
              <a:spcBef>
                <a:spcPts val="0"/>
              </a:spcBef>
              <a:spcAft>
                <a:spcPts val="0"/>
              </a:spcAft>
              <a:buClr>
                <a:srgbClr val="595959"/>
              </a:buClr>
              <a:buSzPts val="1100"/>
              <a:buChar char="○"/>
            </a:pPr>
            <a:r>
              <a:rPr lang="en">
                <a:solidFill>
                  <a:srgbClr val="595959"/>
                </a:solidFill>
              </a:rPr>
              <a:t>This could help level the playing field and result in important information for assessing risk and impact to fisheries.</a:t>
            </a:r>
            <a:endParaRPr>
              <a:solidFill>
                <a:srgbClr val="595959"/>
              </a:solidFill>
            </a:endParaRPr>
          </a:p>
          <a:p>
            <a:pPr marL="914400" lvl="1" indent="-298450" algn="l" rtl="0">
              <a:spcBef>
                <a:spcPts val="0"/>
              </a:spcBef>
              <a:spcAft>
                <a:spcPts val="0"/>
              </a:spcAft>
              <a:buClr>
                <a:srgbClr val="595959"/>
              </a:buClr>
              <a:buSzPts val="1100"/>
              <a:buChar char="○"/>
            </a:pPr>
            <a:endParaRPr>
              <a:solidFill>
                <a:srgbClr val="595959"/>
              </a:solidFill>
            </a:endParaRPr>
          </a:p>
          <a:p>
            <a:pPr marL="457200" lvl="0" indent="-298450" algn="l" rtl="0">
              <a:spcBef>
                <a:spcPts val="0"/>
              </a:spcBef>
              <a:spcAft>
                <a:spcPts val="0"/>
              </a:spcAft>
              <a:buClr>
                <a:srgbClr val="595959"/>
              </a:buClr>
              <a:buSzPts val="1100"/>
              <a:buChar char="●"/>
            </a:pPr>
            <a:endParaRPr>
              <a:solidFill>
                <a:srgbClr val="595959"/>
              </a:solidFill>
            </a:endParaRPr>
          </a:p>
          <a:p>
            <a:pPr marL="457200" lvl="0" indent="0" algn="l" rtl="0">
              <a:spcBef>
                <a:spcPts val="1000"/>
              </a:spcBef>
              <a:spcAft>
                <a:spcPts val="1000"/>
              </a:spcAft>
              <a:buNone/>
            </a:pPr>
            <a:endParaRPr>
              <a:solidFill>
                <a:srgbClr val="595959"/>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29e8e93550_0_4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29e8e93550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a:solidFill>
                  <a:srgbClr val="595959"/>
                </a:solidFill>
              </a:rPr>
              <a:t>Nanofreeze -  maintains product quality for longer “merluza doesn’t get much respect from where i come from”</a:t>
            </a:r>
            <a:endParaRPr>
              <a:solidFill>
                <a:srgbClr val="595959"/>
              </a:solidFill>
            </a:endParaRPr>
          </a:p>
          <a:p>
            <a:pPr marL="457200" lvl="0" indent="0" algn="l" rtl="0">
              <a:spcBef>
                <a:spcPts val="1000"/>
              </a:spcBef>
              <a:spcAft>
                <a:spcPts val="0"/>
              </a:spcAft>
              <a:buNone/>
            </a:pPr>
            <a:r>
              <a:rPr lang="en">
                <a:solidFill>
                  <a:srgbClr val="595959"/>
                </a:solidFill>
              </a:rPr>
              <a:t>Improve market conditions - foreshadowing for later </a:t>
            </a: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1000"/>
              </a:spcAft>
              <a:buNone/>
            </a:pPr>
            <a:endParaRPr>
              <a:solidFill>
                <a:srgbClr val="595959"/>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29e8e93550_0_4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29e8e93550_0_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595959"/>
                </a:solidFill>
              </a:rPr>
              <a:t>Tariffs were mentioned in the focus groups. But it sounds like they could be a double edge sword, because, trade…  and that there are now concerns that they won’t have access to those foreign markets that they NEED access to.</a:t>
            </a: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1000"/>
              </a:spcAft>
              <a:buNone/>
            </a:pPr>
            <a:endParaRPr>
              <a:solidFill>
                <a:srgbClr val="595959"/>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29e8e93550_0_4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29e8e93550_0_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595959"/>
                </a:solidFill>
              </a:rPr>
              <a:t>You’ve made it so far without images!</a:t>
            </a: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1000"/>
              </a:spcAft>
              <a:buNone/>
            </a:pPr>
            <a:endParaRPr>
              <a:solidFill>
                <a:srgbClr val="595959"/>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29e8e93550_0_4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29e8e93550_0_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0"/>
              </a:spcAft>
              <a:buNone/>
            </a:pPr>
            <a:endParaRPr>
              <a:solidFill>
                <a:srgbClr val="595959"/>
              </a:solidFill>
            </a:endParaRPr>
          </a:p>
          <a:p>
            <a:pPr marL="457200" lvl="0" indent="0" algn="l" rtl="0">
              <a:spcBef>
                <a:spcPts val="1000"/>
              </a:spcBef>
              <a:spcAft>
                <a:spcPts val="1000"/>
              </a:spcAft>
              <a:buNone/>
            </a:pPr>
            <a:endParaRPr>
              <a:solidFill>
                <a:srgbClr val="595959"/>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29e8e93550_0_4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29e8e93550_0_4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OR didn’t like the idea of subsidies, certainly not forever</a:t>
            </a:r>
            <a:endParaRPr/>
          </a:p>
          <a:p>
            <a:pPr marL="0" lvl="0" indent="0" algn="l" rtl="0">
              <a:lnSpc>
                <a:spcPct val="115000"/>
              </a:lnSpc>
              <a:spcBef>
                <a:spcPts val="1200"/>
              </a:spcBef>
              <a:spcAft>
                <a:spcPts val="0"/>
              </a:spcAft>
              <a:buNone/>
            </a:pPr>
            <a:endParaRPr/>
          </a:p>
          <a:p>
            <a:pPr marL="457200" lvl="0" indent="0" algn="l" rtl="0">
              <a:lnSpc>
                <a:spcPct val="115000"/>
              </a:lnSpc>
              <a:spcBef>
                <a:spcPts val="1200"/>
              </a:spcBef>
              <a:spcAft>
                <a:spcPts val="120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29e8e93550_0_5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29e8e93550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endParaRPr/>
          </a:p>
          <a:p>
            <a:pPr marL="457200" lvl="0" indent="0" algn="l" rtl="0">
              <a:lnSpc>
                <a:spcPct val="115000"/>
              </a:lnSpc>
              <a:spcBef>
                <a:spcPts val="1200"/>
              </a:spcBef>
              <a:spcAft>
                <a:spcPts val="120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29e8e93550_0_5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29e8e93550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endParaRPr/>
          </a:p>
          <a:p>
            <a:pPr marL="457200" lvl="0" indent="0" algn="l" rtl="0">
              <a:lnSpc>
                <a:spcPct val="115000"/>
              </a:lnSpc>
              <a:spcBef>
                <a:spcPts val="1200"/>
              </a:spcBef>
              <a:spcAft>
                <a:spcPts val="120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s://docs.google.com/spreadsheets/d/1-FB78shPPgDq8vmXNNlruHKUAQKBk7icgCGFCWNlIg0/edit" TargetMode="External"/><Relationship Id="rId4" Type="http://schemas.openxmlformats.org/officeDocument/2006/relationships/hyperlink" Target="https://order.spoton.com/so-south-coast-deli-3221/goleta-ca/6012efb79adef3debaac866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1511225"/>
            <a:ext cx="8520600" cy="91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solidFill>
                  <a:schemeClr val="lt1"/>
                </a:solidFill>
                <a:highlight>
                  <a:srgbClr val="3D85C6"/>
                </a:highlight>
              </a:rPr>
              <a:t>  Focus Group Meetings </a:t>
            </a:r>
            <a:r>
              <a:rPr lang="en">
                <a:solidFill>
                  <a:srgbClr val="3D85C6"/>
                </a:solidFill>
                <a:highlight>
                  <a:srgbClr val="3D85C6"/>
                </a:highlight>
              </a:rPr>
              <a:t>.</a:t>
            </a:r>
            <a:endParaRPr>
              <a:solidFill>
                <a:srgbClr val="3D85C6"/>
              </a:solidFill>
              <a:highlight>
                <a:srgbClr val="3D85C6"/>
              </a:highlight>
            </a:endParaRPr>
          </a:p>
        </p:txBody>
      </p:sp>
      <p:sp>
        <p:nvSpPr>
          <p:cNvPr id="55" name="Google Shape;55;p13"/>
          <p:cNvSpPr txBox="1">
            <a:spLocks noGrp="1"/>
          </p:cNvSpPr>
          <p:nvPr>
            <p:ph type="subTitle" idx="1"/>
          </p:nvPr>
        </p:nvSpPr>
        <p:spPr>
          <a:xfrm>
            <a:off x="1739125" y="2529325"/>
            <a:ext cx="57813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Meeting summary</a:t>
            </a:r>
            <a:endParaRPr/>
          </a:p>
        </p:txBody>
      </p:sp>
      <p:pic>
        <p:nvPicPr>
          <p:cNvPr id="56" name="Google Shape;56;p13"/>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57" name="Google Shape;57;p13"/>
          <p:cNvSpPr txBox="1"/>
          <p:nvPr/>
        </p:nvSpPr>
        <p:spPr>
          <a:xfrm>
            <a:off x="7805400" y="4720150"/>
            <a:ext cx="1338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i="1">
                <a:solidFill>
                  <a:srgbClr val="999999"/>
                </a:solidFill>
              </a:rPr>
              <a:t>January 28, 2025</a:t>
            </a:r>
            <a:endParaRPr sz="1100" i="1">
              <a:solidFill>
                <a:srgbClr val="999999"/>
              </a:solidFill>
            </a:endParaRPr>
          </a:p>
        </p:txBody>
      </p:sp>
      <p:sp>
        <p:nvSpPr>
          <p:cNvPr id="58" name="Google Shape;58;p13"/>
          <p:cNvSpPr txBox="1"/>
          <p:nvPr/>
        </p:nvSpPr>
        <p:spPr>
          <a:xfrm>
            <a:off x="3654425" y="4617325"/>
            <a:ext cx="1747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rgbClr val="999999"/>
                </a:solidFill>
              </a:rPr>
              <a:t>Tracey Mangin</a:t>
            </a:r>
            <a:endParaRPr sz="1600">
              <a:solidFill>
                <a:srgbClr val="9999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14"/>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Outline</a:t>
            </a:r>
            <a:endParaRPr>
              <a:solidFill>
                <a:schemeClr val="lt1"/>
              </a:solidFill>
            </a:endParaRPr>
          </a:p>
        </p:txBody>
      </p:sp>
      <p:pic>
        <p:nvPicPr>
          <p:cNvPr id="65" name="Google Shape;65;p14"/>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66" name="Google Shape;66;p14"/>
          <p:cNvSpPr txBox="1"/>
          <p:nvPr/>
        </p:nvSpPr>
        <p:spPr>
          <a:xfrm>
            <a:off x="403400" y="848850"/>
            <a:ext cx="6513300" cy="3357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en" sz="2000">
                <a:solidFill>
                  <a:schemeClr val="dk2"/>
                </a:solidFill>
              </a:rPr>
              <a:t>Background</a:t>
            </a:r>
            <a:endParaRPr sz="2000">
              <a:solidFill>
                <a:schemeClr val="dk2"/>
              </a:solidFill>
            </a:endParaRPr>
          </a:p>
          <a:p>
            <a:pPr marL="457200" lvl="0" indent="-342900" algn="l" rtl="0">
              <a:spcBef>
                <a:spcPts val="1000"/>
              </a:spcBef>
              <a:spcAft>
                <a:spcPts val="0"/>
              </a:spcAft>
              <a:buClr>
                <a:schemeClr val="dk2"/>
              </a:buClr>
              <a:buSzPts val="1800"/>
              <a:buChar char="●"/>
            </a:pPr>
            <a:r>
              <a:rPr lang="en" sz="2000">
                <a:solidFill>
                  <a:schemeClr val="dk2"/>
                </a:solidFill>
              </a:rPr>
              <a:t>Summary - all meetings</a:t>
            </a:r>
            <a:endParaRPr sz="2000">
              <a:solidFill>
                <a:schemeClr val="dk2"/>
              </a:solidFill>
            </a:endParaRPr>
          </a:p>
          <a:p>
            <a:pPr marL="457200" lvl="0" indent="-342900" algn="l" rtl="0">
              <a:spcBef>
                <a:spcPts val="1000"/>
              </a:spcBef>
              <a:spcAft>
                <a:spcPts val="0"/>
              </a:spcAft>
              <a:buClr>
                <a:schemeClr val="dk2"/>
              </a:buClr>
              <a:buSzPts val="1800"/>
              <a:buChar char="●"/>
            </a:pPr>
            <a:r>
              <a:rPr lang="en" sz="2000">
                <a:solidFill>
                  <a:schemeClr val="dk2"/>
                </a:solidFill>
              </a:rPr>
              <a:t>Regional differences</a:t>
            </a:r>
            <a:endParaRPr sz="2000">
              <a:solidFill>
                <a:schemeClr val="dk2"/>
              </a:solidFill>
            </a:endParaRPr>
          </a:p>
          <a:p>
            <a:pPr marL="457200" lvl="0" indent="-342900" algn="l" rtl="0">
              <a:spcBef>
                <a:spcPts val="1000"/>
              </a:spcBef>
              <a:spcAft>
                <a:spcPts val="0"/>
              </a:spcAft>
              <a:buClr>
                <a:schemeClr val="dk2"/>
              </a:buClr>
              <a:buSzPts val="1800"/>
              <a:buChar char="●"/>
            </a:pPr>
            <a:r>
              <a:rPr lang="en" sz="2000">
                <a:solidFill>
                  <a:schemeClr val="dk2"/>
                </a:solidFill>
              </a:rPr>
              <a:t>Next steps</a:t>
            </a:r>
            <a:endParaRPr sz="2000">
              <a:solidFill>
                <a:schemeClr val="dk2"/>
              </a:solidFill>
            </a:endParaRPr>
          </a:p>
          <a:p>
            <a:pPr marL="914400" lvl="1" indent="-342900" algn="l" rtl="0">
              <a:spcBef>
                <a:spcPts val="1000"/>
              </a:spcBef>
              <a:spcAft>
                <a:spcPts val="0"/>
              </a:spcAft>
              <a:buClr>
                <a:schemeClr val="dk2"/>
              </a:buClr>
              <a:buSzPts val="1800"/>
              <a:buChar char="○"/>
            </a:pPr>
            <a:r>
              <a:rPr lang="en" sz="2000">
                <a:solidFill>
                  <a:schemeClr val="dk2"/>
                </a:solidFill>
              </a:rPr>
              <a:t>Follow up with participants</a:t>
            </a:r>
            <a:endParaRPr sz="2000">
              <a:solidFill>
                <a:schemeClr val="dk2"/>
              </a:solidFill>
            </a:endParaRPr>
          </a:p>
          <a:p>
            <a:pPr marL="914400" lvl="1" indent="-342900" algn="l" rtl="0">
              <a:spcBef>
                <a:spcPts val="1000"/>
              </a:spcBef>
              <a:spcAft>
                <a:spcPts val="0"/>
              </a:spcAft>
              <a:buClr>
                <a:schemeClr val="dk2"/>
              </a:buClr>
              <a:buSzPts val="1800"/>
              <a:buChar char="○"/>
            </a:pPr>
            <a:r>
              <a:rPr lang="en" sz="2000">
                <a:solidFill>
                  <a:schemeClr val="dk2"/>
                </a:solidFill>
              </a:rPr>
              <a:t>Incorporating information into research</a:t>
            </a:r>
            <a:endParaRPr sz="20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 name="Google Shape;72;p15"/>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Background</a:t>
            </a:r>
            <a:endParaRPr>
              <a:solidFill>
                <a:schemeClr val="lt1"/>
              </a:solidFill>
            </a:endParaRPr>
          </a:p>
        </p:txBody>
      </p:sp>
      <p:pic>
        <p:nvPicPr>
          <p:cNvPr id="73" name="Google Shape;73;p15"/>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74" name="Google Shape;74;p15"/>
          <p:cNvSpPr txBox="1"/>
          <p:nvPr/>
        </p:nvSpPr>
        <p:spPr>
          <a:xfrm>
            <a:off x="403400" y="848850"/>
            <a:ext cx="4832700" cy="335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b="1">
                <a:solidFill>
                  <a:schemeClr val="dk2"/>
                </a:solidFill>
              </a:rPr>
              <a:t>Purpose: </a:t>
            </a:r>
            <a:r>
              <a:rPr lang="en" sz="1800">
                <a:solidFill>
                  <a:schemeClr val="dk2"/>
                </a:solidFill>
              </a:rPr>
              <a:t>Talk with fishermen about observed/anticipated climate change impacts on fisheries outcomes and potential mitigations strategies to foster resilient West Coast Fisheries</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 name="Google Shape;80;p16"/>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Background</a:t>
            </a:r>
            <a:endParaRPr>
              <a:solidFill>
                <a:schemeClr val="lt1"/>
              </a:solidFill>
            </a:endParaRPr>
          </a:p>
        </p:txBody>
      </p:sp>
      <p:pic>
        <p:nvPicPr>
          <p:cNvPr id="81" name="Google Shape;81;p16"/>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82" name="Google Shape;82;p16"/>
          <p:cNvSpPr txBox="1"/>
          <p:nvPr/>
        </p:nvSpPr>
        <p:spPr>
          <a:xfrm>
            <a:off x="403400" y="848850"/>
            <a:ext cx="4832700" cy="335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b="1">
                <a:solidFill>
                  <a:schemeClr val="dk2"/>
                </a:solidFill>
              </a:rPr>
              <a:t>Purpose: </a:t>
            </a:r>
            <a:r>
              <a:rPr lang="en" sz="1800">
                <a:solidFill>
                  <a:schemeClr val="dk2"/>
                </a:solidFill>
              </a:rPr>
              <a:t>Talk with fishermen about observed/anticipated climate change impacts on fisheries outcomes and potential mitigations strategies to foster resilient West Coast Fisheries</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a:p>
            <a:pPr marL="0" lvl="0" indent="0" algn="l" rtl="0">
              <a:lnSpc>
                <a:spcPct val="115000"/>
              </a:lnSpc>
              <a:spcBef>
                <a:spcPts val="0"/>
              </a:spcBef>
              <a:spcAft>
                <a:spcPts val="0"/>
              </a:spcAft>
              <a:buNone/>
            </a:pPr>
            <a:r>
              <a:rPr lang="en" sz="2000" b="1">
                <a:solidFill>
                  <a:schemeClr val="dk2"/>
                </a:solidFill>
              </a:rPr>
              <a:t>Locations: </a:t>
            </a:r>
            <a:endParaRPr sz="2000" b="1">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Eureka, CA</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Newport, OR</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Morro Bay, CA</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 WA</a:t>
            </a:r>
            <a:endParaRPr sz="1800">
              <a:solidFill>
                <a:schemeClr val="dk2"/>
              </a:solidFill>
            </a:endParaRPr>
          </a:p>
          <a:p>
            <a:pPr marL="0" lvl="0" indent="0" algn="l" rtl="0">
              <a:spcBef>
                <a:spcPts val="0"/>
              </a:spcBef>
              <a:spcAft>
                <a:spcPts val="0"/>
              </a:spcAft>
              <a:buClr>
                <a:schemeClr val="dk1"/>
              </a:buClr>
              <a:buSzPts val="1100"/>
              <a:buFont typeface="Arial"/>
              <a:buNone/>
            </a:pPr>
            <a:endParaRPr sz="1800" b="1">
              <a:solidFill>
                <a:schemeClr val="dk2"/>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2"/>
              </a:solidFill>
            </a:endParaRPr>
          </a:p>
        </p:txBody>
      </p:sp>
      <p:pic>
        <p:nvPicPr>
          <p:cNvPr id="83" name="Google Shape;83;p16"/>
          <p:cNvPicPr preferRelativeResize="0"/>
          <p:nvPr/>
        </p:nvPicPr>
        <p:blipFill rotWithShape="1">
          <a:blip r:embed="rId4">
            <a:alphaModFix/>
          </a:blip>
          <a:srcRect l="16763"/>
          <a:stretch/>
        </p:blipFill>
        <p:spPr>
          <a:xfrm>
            <a:off x="5538500" y="789750"/>
            <a:ext cx="2456176" cy="41488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 name="Google Shape;89;p17"/>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Background</a:t>
            </a:r>
            <a:endParaRPr>
              <a:solidFill>
                <a:schemeClr val="lt1"/>
              </a:solidFill>
            </a:endParaRPr>
          </a:p>
        </p:txBody>
      </p:sp>
      <p:pic>
        <p:nvPicPr>
          <p:cNvPr id="90" name="Google Shape;90;p17"/>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91" name="Google Shape;91;p17"/>
          <p:cNvSpPr txBox="1"/>
          <p:nvPr/>
        </p:nvSpPr>
        <p:spPr>
          <a:xfrm>
            <a:off x="403400" y="848850"/>
            <a:ext cx="4832700" cy="335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b="1">
                <a:solidFill>
                  <a:schemeClr val="dk2"/>
                </a:solidFill>
              </a:rPr>
              <a:t>Reality: </a:t>
            </a:r>
            <a:r>
              <a:rPr lang="en" sz="1800">
                <a:solidFill>
                  <a:schemeClr val="dk2"/>
                </a:solidFill>
              </a:rPr>
              <a:t>Talk with fishermen about observed/anticipated </a:t>
            </a:r>
            <a:r>
              <a:rPr lang="en" sz="1800" strike="sngStrike">
                <a:solidFill>
                  <a:srgbClr val="FF0000"/>
                </a:solidFill>
              </a:rPr>
              <a:t>climate change</a:t>
            </a:r>
            <a:r>
              <a:rPr lang="en" sz="1800">
                <a:solidFill>
                  <a:srgbClr val="FF0000"/>
                </a:solidFill>
              </a:rPr>
              <a:t> </a:t>
            </a:r>
            <a:r>
              <a:rPr lang="en" sz="1800" b="1">
                <a:solidFill>
                  <a:srgbClr val="FF0000"/>
                </a:solidFill>
              </a:rPr>
              <a:t>OSW impacts</a:t>
            </a:r>
            <a:r>
              <a:rPr lang="en" sz="1800">
                <a:solidFill>
                  <a:schemeClr val="dk2"/>
                </a:solidFill>
              </a:rPr>
              <a:t> on fisheries outcomes and </a:t>
            </a:r>
            <a:r>
              <a:rPr lang="en" sz="1800">
                <a:solidFill>
                  <a:srgbClr val="FF0000"/>
                </a:solidFill>
              </a:rPr>
              <a:t>at times </a:t>
            </a:r>
            <a:r>
              <a:rPr lang="en" sz="1800">
                <a:solidFill>
                  <a:schemeClr val="dk2"/>
                </a:solidFill>
              </a:rPr>
              <a:t>potential mitigations strategies to foster resilient West Coast Fisheries</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a:p>
            <a:pPr marL="0" lvl="0" indent="0" algn="l" rtl="0">
              <a:lnSpc>
                <a:spcPct val="115000"/>
              </a:lnSpc>
              <a:spcBef>
                <a:spcPts val="0"/>
              </a:spcBef>
              <a:spcAft>
                <a:spcPts val="0"/>
              </a:spcAft>
              <a:buNone/>
            </a:pPr>
            <a:r>
              <a:rPr lang="en" sz="2000" b="1">
                <a:solidFill>
                  <a:schemeClr val="dk2"/>
                </a:solidFill>
              </a:rPr>
              <a:t>Locations: </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Eureka, CA (7 participants)</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Newport, OR (3 participants)</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Morro Bay, CA (7 participants)</a:t>
            </a:r>
            <a:endParaRPr sz="1800">
              <a:solidFill>
                <a:schemeClr val="dk2"/>
              </a:solidFill>
            </a:endParaRPr>
          </a:p>
          <a:p>
            <a:pPr marL="457200" lvl="0" indent="-342900" algn="l" rtl="0">
              <a:lnSpc>
                <a:spcPct val="115000"/>
              </a:lnSpc>
              <a:spcBef>
                <a:spcPts val="0"/>
              </a:spcBef>
              <a:spcAft>
                <a:spcPts val="0"/>
              </a:spcAft>
              <a:buClr>
                <a:srgbClr val="FF0000"/>
              </a:buClr>
              <a:buSzPts val="1800"/>
              <a:buChar char="●"/>
            </a:pPr>
            <a:r>
              <a:rPr lang="en" sz="1800" strike="sngStrike">
                <a:solidFill>
                  <a:srgbClr val="FF0000"/>
                </a:solidFill>
              </a:rPr>
              <a:t>??, WA</a:t>
            </a:r>
            <a:endParaRPr sz="1800" strike="sngStrike">
              <a:solidFill>
                <a:srgbClr val="FF0000"/>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pic>
        <p:nvPicPr>
          <p:cNvPr id="92" name="Google Shape;92;p17"/>
          <p:cNvPicPr preferRelativeResize="0"/>
          <p:nvPr/>
        </p:nvPicPr>
        <p:blipFill rotWithShape="1">
          <a:blip r:embed="rId4">
            <a:alphaModFix/>
          </a:blip>
          <a:srcRect l="16763"/>
          <a:stretch/>
        </p:blipFill>
        <p:spPr>
          <a:xfrm>
            <a:off x="5538500" y="789750"/>
            <a:ext cx="2456176" cy="4148827"/>
          </a:xfrm>
          <a:prstGeom prst="rect">
            <a:avLst/>
          </a:prstGeom>
          <a:noFill/>
          <a:ln>
            <a:noFill/>
          </a:ln>
        </p:spPr>
      </p:pic>
      <p:sp>
        <p:nvSpPr>
          <p:cNvPr id="93" name="Google Shape;93;p17"/>
          <p:cNvSpPr txBox="1"/>
          <p:nvPr/>
        </p:nvSpPr>
        <p:spPr>
          <a:xfrm>
            <a:off x="6437775" y="1428725"/>
            <a:ext cx="336300" cy="34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0000"/>
                </a:solidFill>
              </a:rPr>
              <a:t>X</a:t>
            </a:r>
            <a:endParaRPr sz="1800" b="1">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 name="Google Shape;99;p18"/>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Background</a:t>
            </a:r>
            <a:endParaRPr>
              <a:solidFill>
                <a:schemeClr val="lt1"/>
              </a:solidFill>
            </a:endParaRPr>
          </a:p>
        </p:txBody>
      </p:sp>
      <p:pic>
        <p:nvPicPr>
          <p:cNvPr id="100" name="Google Shape;100;p18"/>
          <p:cNvPicPr preferRelativeResize="0"/>
          <p:nvPr/>
        </p:nvPicPr>
        <p:blipFill rotWithShape="1">
          <a:blip r:embed="rId3">
            <a:alphaModFix/>
          </a:blip>
          <a:srcRect/>
          <a:stretch/>
        </p:blipFill>
        <p:spPr>
          <a:xfrm>
            <a:off x="240030" y="4454677"/>
            <a:ext cx="1149281" cy="483907"/>
          </a:xfrm>
          <a:prstGeom prst="rect">
            <a:avLst/>
          </a:prstGeom>
          <a:noFill/>
          <a:ln>
            <a:noFill/>
          </a:ln>
        </p:spPr>
      </p:pic>
      <p:pic>
        <p:nvPicPr>
          <p:cNvPr id="101" name="Google Shape;101;p18"/>
          <p:cNvPicPr preferRelativeResize="0"/>
          <p:nvPr/>
        </p:nvPicPr>
        <p:blipFill>
          <a:blip r:embed="rId4">
            <a:alphaModFix/>
          </a:blip>
          <a:stretch>
            <a:fillRect/>
          </a:stretch>
        </p:blipFill>
        <p:spPr>
          <a:xfrm>
            <a:off x="6461050" y="1112275"/>
            <a:ext cx="2546375" cy="2918926"/>
          </a:xfrm>
          <a:prstGeom prst="rect">
            <a:avLst/>
          </a:prstGeom>
          <a:noFill/>
          <a:ln>
            <a:noFill/>
          </a:ln>
        </p:spPr>
      </p:pic>
      <p:pic>
        <p:nvPicPr>
          <p:cNvPr id="102" name="Google Shape;102;p18"/>
          <p:cNvPicPr preferRelativeResize="0"/>
          <p:nvPr/>
        </p:nvPicPr>
        <p:blipFill>
          <a:blip r:embed="rId5">
            <a:alphaModFix/>
          </a:blip>
          <a:stretch>
            <a:fillRect/>
          </a:stretch>
        </p:blipFill>
        <p:spPr>
          <a:xfrm>
            <a:off x="187800" y="773200"/>
            <a:ext cx="3308124" cy="2371249"/>
          </a:xfrm>
          <a:prstGeom prst="rect">
            <a:avLst/>
          </a:prstGeom>
          <a:noFill/>
          <a:ln>
            <a:noFill/>
          </a:ln>
        </p:spPr>
      </p:pic>
      <p:pic>
        <p:nvPicPr>
          <p:cNvPr id="103" name="Google Shape;103;p18"/>
          <p:cNvPicPr preferRelativeResize="0"/>
          <p:nvPr/>
        </p:nvPicPr>
        <p:blipFill>
          <a:blip r:embed="rId6">
            <a:alphaModFix/>
          </a:blip>
          <a:stretch>
            <a:fillRect/>
          </a:stretch>
        </p:blipFill>
        <p:spPr>
          <a:xfrm>
            <a:off x="983325" y="2680947"/>
            <a:ext cx="3588675" cy="2190400"/>
          </a:xfrm>
          <a:prstGeom prst="rect">
            <a:avLst/>
          </a:prstGeom>
          <a:noFill/>
          <a:ln>
            <a:noFill/>
          </a:ln>
        </p:spPr>
      </p:pic>
      <p:pic>
        <p:nvPicPr>
          <p:cNvPr id="104" name="Google Shape;104;p18"/>
          <p:cNvPicPr preferRelativeResize="0"/>
          <p:nvPr/>
        </p:nvPicPr>
        <p:blipFill>
          <a:blip r:embed="rId7">
            <a:alphaModFix/>
          </a:blip>
          <a:stretch>
            <a:fillRect/>
          </a:stretch>
        </p:blipFill>
        <p:spPr>
          <a:xfrm rot="-5400000">
            <a:off x="4259937" y="1696914"/>
            <a:ext cx="2585324" cy="1749648"/>
          </a:xfrm>
          <a:prstGeom prst="rect">
            <a:avLst/>
          </a:prstGeom>
          <a:noFill/>
          <a:ln>
            <a:noFill/>
          </a:ln>
        </p:spPr>
      </p:pic>
      <p:sp>
        <p:nvSpPr>
          <p:cNvPr id="105" name="Google Shape;105;p18"/>
          <p:cNvSpPr txBox="1"/>
          <p:nvPr/>
        </p:nvSpPr>
        <p:spPr>
          <a:xfrm>
            <a:off x="5051050" y="4177000"/>
            <a:ext cx="3712800" cy="69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1"/>
                </a:solidFill>
                <a:highlight>
                  <a:schemeClr val="accent1"/>
                </a:highlight>
              </a:rPr>
              <a:t>Sorry, these are the last images you’ll see here!</a:t>
            </a:r>
            <a:endParaRPr sz="1800">
              <a:solidFill>
                <a:schemeClr val="lt1"/>
              </a:solidFill>
              <a:highlight>
                <a:schemeClr val="accent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19"/>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General themes</a:t>
            </a:r>
            <a:endParaRPr>
              <a:solidFill>
                <a:schemeClr val="lt1"/>
              </a:solidFill>
            </a:endParaRPr>
          </a:p>
        </p:txBody>
      </p:sp>
      <p:pic>
        <p:nvPicPr>
          <p:cNvPr id="112" name="Google Shape;112;p19"/>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13" name="Google Shape;113;p19"/>
          <p:cNvSpPr txBox="1"/>
          <p:nvPr/>
        </p:nvSpPr>
        <p:spPr>
          <a:xfrm>
            <a:off x="403400" y="848850"/>
            <a:ext cx="7673400" cy="3357000"/>
          </a:xfrm>
          <a:prstGeom prst="rect">
            <a:avLst/>
          </a:prstGeom>
          <a:noFill/>
          <a:ln>
            <a:noFill/>
          </a:ln>
        </p:spPr>
        <p:txBody>
          <a:bodyPr spcFirstLastPara="1" wrap="square" lIns="91425" tIns="91425" rIns="91425" bIns="91425" anchor="t" anchorCtr="0">
            <a:noAutofit/>
          </a:bodyPr>
          <a:lstStyle/>
          <a:p>
            <a:pPr marL="457200" lvl="0" indent="-336550" algn="l" rtl="0">
              <a:spcBef>
                <a:spcPts val="0"/>
              </a:spcBef>
              <a:spcAft>
                <a:spcPts val="0"/>
              </a:spcAft>
              <a:buClr>
                <a:schemeClr val="dk2"/>
              </a:buClr>
              <a:buSzPts val="1700"/>
              <a:buChar char="●"/>
            </a:pPr>
            <a:r>
              <a:rPr lang="en" sz="1900" b="1">
                <a:solidFill>
                  <a:schemeClr val="dk2"/>
                </a:solidFill>
              </a:rPr>
              <a:t>Industry importance. </a:t>
            </a:r>
            <a:r>
              <a:rPr lang="en" sz="1900">
                <a:solidFill>
                  <a:schemeClr val="dk2"/>
                </a:solidFill>
              </a:rPr>
              <a:t>Fishing provides a sense of purpose and is culturally significant - it’s a way of life, not just a job, and contributes to food security</a:t>
            </a:r>
            <a:endParaRPr sz="1900">
              <a:solidFill>
                <a:schemeClr val="dk2"/>
              </a:solidFill>
            </a:endParaRPr>
          </a:p>
          <a:p>
            <a:pPr marL="457200" lvl="0" indent="-349250" algn="l" rtl="0">
              <a:spcBef>
                <a:spcPts val="1000"/>
              </a:spcBef>
              <a:spcAft>
                <a:spcPts val="0"/>
              </a:spcAft>
              <a:buClr>
                <a:schemeClr val="dk2"/>
              </a:buClr>
              <a:buSzPts val="1900"/>
              <a:buChar char="●"/>
            </a:pPr>
            <a:r>
              <a:rPr lang="en" sz="1900" b="1">
                <a:solidFill>
                  <a:schemeClr val="dk2"/>
                </a:solidFill>
              </a:rPr>
              <a:t>WC fisheries are some of the most sustainable in the world.</a:t>
            </a:r>
            <a:r>
              <a:rPr lang="en" sz="1900">
                <a:solidFill>
                  <a:schemeClr val="dk2"/>
                </a:solidFill>
              </a:rPr>
              <a:t> Highly regulated, incredibly sustainable - they are environmental stewards</a:t>
            </a:r>
            <a:endParaRPr sz="1900">
              <a:solidFill>
                <a:schemeClr val="dk2"/>
              </a:solidFill>
            </a:endParaRPr>
          </a:p>
          <a:p>
            <a:pPr marL="457200" lvl="0" indent="-349250" algn="l" rtl="0">
              <a:spcBef>
                <a:spcPts val="1000"/>
              </a:spcBef>
              <a:spcAft>
                <a:spcPts val="0"/>
              </a:spcAft>
              <a:buClr>
                <a:schemeClr val="dk2"/>
              </a:buClr>
              <a:buSzPts val="1900"/>
              <a:buChar char="●"/>
            </a:pPr>
            <a:r>
              <a:rPr lang="en" sz="1900" b="1">
                <a:solidFill>
                  <a:schemeClr val="dk2"/>
                </a:solidFill>
              </a:rPr>
              <a:t>Everything is always dynamic and cyclical. </a:t>
            </a:r>
            <a:r>
              <a:rPr lang="en" sz="1900">
                <a:solidFill>
                  <a:schemeClr val="dk2"/>
                </a:solidFill>
              </a:rPr>
              <a:t>Fishermen are used to adapting to environmental changes and will follow the fish (if there is somewhere to go); “good” and “bad” fishing areas change over time</a:t>
            </a:r>
            <a:endParaRPr sz="1900">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20"/>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General themes related to OSW</a:t>
            </a:r>
            <a:endParaRPr>
              <a:solidFill>
                <a:schemeClr val="lt1"/>
              </a:solidFill>
            </a:endParaRPr>
          </a:p>
        </p:txBody>
      </p:sp>
      <p:pic>
        <p:nvPicPr>
          <p:cNvPr id="120" name="Google Shape;120;p20"/>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21" name="Google Shape;121;p20"/>
          <p:cNvSpPr txBox="1"/>
          <p:nvPr/>
        </p:nvSpPr>
        <p:spPr>
          <a:xfrm>
            <a:off x="403400" y="848850"/>
            <a:ext cx="7673400" cy="3357000"/>
          </a:xfrm>
          <a:prstGeom prst="rect">
            <a:avLst/>
          </a:prstGeom>
          <a:noFill/>
          <a:ln>
            <a:noFill/>
          </a:ln>
        </p:spPr>
        <p:txBody>
          <a:bodyPr spcFirstLastPara="1" wrap="square" lIns="91425" tIns="91425" rIns="91425" bIns="91425" anchor="t" anchorCtr="0">
            <a:noAutofit/>
          </a:bodyPr>
          <a:lstStyle/>
          <a:p>
            <a:pPr marL="457200" lvl="0" indent="-336550" algn="l" rtl="0">
              <a:spcBef>
                <a:spcPts val="0"/>
              </a:spcBef>
              <a:spcAft>
                <a:spcPts val="0"/>
              </a:spcAft>
              <a:buClr>
                <a:schemeClr val="dk2"/>
              </a:buClr>
              <a:buSzPts val="1700"/>
              <a:buChar char="●"/>
            </a:pPr>
            <a:r>
              <a:rPr lang="en" sz="1900" b="1">
                <a:solidFill>
                  <a:schemeClr val="dk2"/>
                </a:solidFill>
              </a:rPr>
              <a:t>Fishermen want avoidance. </a:t>
            </a:r>
            <a:r>
              <a:rPr lang="en" sz="1900">
                <a:solidFill>
                  <a:schemeClr val="dk2"/>
                </a:solidFill>
              </a:rPr>
              <a:t>First and foremost </a:t>
            </a:r>
            <a:endParaRPr sz="1900">
              <a:solidFill>
                <a:schemeClr val="dk2"/>
              </a:solidFill>
            </a:endParaRPr>
          </a:p>
          <a:p>
            <a:pPr marL="457200" lvl="0" indent="-349250" algn="l" rtl="0">
              <a:spcBef>
                <a:spcPts val="1000"/>
              </a:spcBef>
              <a:spcAft>
                <a:spcPts val="0"/>
              </a:spcAft>
              <a:buClr>
                <a:schemeClr val="dk2"/>
              </a:buClr>
              <a:buSzPts val="1900"/>
              <a:buChar char="●"/>
            </a:pPr>
            <a:r>
              <a:rPr lang="en" sz="1900" b="1">
                <a:solidFill>
                  <a:schemeClr val="dk2"/>
                </a:solidFill>
              </a:rPr>
              <a:t>Precautionary rollout. </a:t>
            </a:r>
            <a:r>
              <a:rPr lang="en" sz="1900">
                <a:solidFill>
                  <a:schemeClr val="dk2"/>
                </a:solidFill>
              </a:rPr>
              <a:t>Participants want pilot projects/small scale implementation to research before expansion</a:t>
            </a:r>
            <a:endParaRPr sz="1900">
              <a:solidFill>
                <a:schemeClr val="dk2"/>
              </a:solidFill>
            </a:endParaRPr>
          </a:p>
          <a:p>
            <a:pPr marL="457200" lvl="0" indent="-349250" algn="l" rtl="0">
              <a:spcBef>
                <a:spcPts val="1000"/>
              </a:spcBef>
              <a:spcAft>
                <a:spcPts val="0"/>
              </a:spcAft>
              <a:buClr>
                <a:schemeClr val="dk2"/>
              </a:buClr>
              <a:buSzPts val="1900"/>
              <a:buChar char="●"/>
            </a:pPr>
            <a:r>
              <a:rPr lang="en" sz="1900" b="1">
                <a:solidFill>
                  <a:schemeClr val="dk2"/>
                </a:solidFill>
              </a:rPr>
              <a:t>OSW will be huge blow to an already fragile industry.</a:t>
            </a:r>
            <a:endParaRPr sz="1900" b="1">
              <a:solidFill>
                <a:schemeClr val="dk2"/>
              </a:solidFill>
            </a:endParaRPr>
          </a:p>
          <a:p>
            <a:pPr marL="457200" lvl="0" indent="-349250" algn="l" rtl="0">
              <a:spcBef>
                <a:spcPts val="1000"/>
              </a:spcBef>
              <a:spcAft>
                <a:spcPts val="0"/>
              </a:spcAft>
              <a:buClr>
                <a:schemeClr val="dk2"/>
              </a:buClr>
              <a:buSzPts val="1900"/>
              <a:buChar char="●"/>
            </a:pPr>
            <a:r>
              <a:rPr lang="en" sz="1900" b="1">
                <a:solidFill>
                  <a:schemeClr val="dk2"/>
                </a:solidFill>
              </a:rPr>
              <a:t>OSW has many unknown environmental implications and could be a net negative for the ocean. </a:t>
            </a:r>
            <a:r>
              <a:rPr lang="en" sz="1900">
                <a:solidFill>
                  <a:schemeClr val="dk2"/>
                </a:solidFill>
              </a:rPr>
              <a:t>Believes that they will make fisheries less resilient to climate change and have net negative ecosystem impacts on ocean</a:t>
            </a:r>
            <a:endParaRPr sz="1900">
              <a:solidFill>
                <a:schemeClr val="dk2"/>
              </a:solidFill>
            </a:endParaRPr>
          </a:p>
          <a:p>
            <a:pPr marL="457200" lvl="0" indent="-349250" algn="l" rtl="0">
              <a:spcBef>
                <a:spcPts val="1000"/>
              </a:spcBef>
              <a:spcAft>
                <a:spcPts val="0"/>
              </a:spcAft>
              <a:buClr>
                <a:schemeClr val="dk2"/>
              </a:buClr>
              <a:buSzPts val="1900"/>
              <a:buChar char="●"/>
            </a:pPr>
            <a:r>
              <a:rPr lang="en" sz="1900" b="1">
                <a:solidFill>
                  <a:schemeClr val="dk2"/>
                </a:solidFill>
              </a:rPr>
              <a:t>Technological and economic viability should be proven.</a:t>
            </a:r>
            <a:endParaRPr sz="1900" b="1">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1"/>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OSW process</a:t>
            </a:r>
            <a:endParaRPr>
              <a:solidFill>
                <a:schemeClr val="lt1"/>
              </a:solidFill>
            </a:endParaRPr>
          </a:p>
        </p:txBody>
      </p:sp>
      <p:pic>
        <p:nvPicPr>
          <p:cNvPr id="128" name="Google Shape;128;p21"/>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29" name="Google Shape;129;p21"/>
          <p:cNvSpPr txBox="1"/>
          <p:nvPr/>
        </p:nvSpPr>
        <p:spPr>
          <a:xfrm>
            <a:off x="403400" y="848850"/>
            <a:ext cx="7673400" cy="33570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2"/>
              </a:buClr>
              <a:buSzPts val="1600"/>
              <a:buChar char="●"/>
            </a:pPr>
            <a:r>
              <a:rPr lang="en" sz="1800" b="1">
                <a:solidFill>
                  <a:schemeClr val="dk2"/>
                </a:solidFill>
              </a:rPr>
              <a:t>Rushed, hasty, lacking appropriate analysis. </a:t>
            </a:r>
            <a:endParaRPr sz="1800" b="1">
              <a:solidFill>
                <a:schemeClr val="dk2"/>
              </a:solidFill>
            </a:endParaRPr>
          </a:p>
          <a:p>
            <a:pPr marL="457200" lvl="0" indent="-342900" algn="l" rtl="0">
              <a:spcBef>
                <a:spcPts val="1000"/>
              </a:spcBef>
              <a:spcAft>
                <a:spcPts val="0"/>
              </a:spcAft>
              <a:buClr>
                <a:schemeClr val="dk2"/>
              </a:buClr>
              <a:buSzPts val="1800"/>
              <a:buChar char="●"/>
            </a:pPr>
            <a:r>
              <a:rPr lang="en" sz="1800" b="1">
                <a:solidFill>
                  <a:schemeClr val="dk2"/>
                </a:solidFill>
              </a:rPr>
              <a:t>Assessment and analysis should come before leasing.</a:t>
            </a:r>
            <a:endParaRPr sz="1800" b="1">
              <a:solidFill>
                <a:schemeClr val="dk2"/>
              </a:solidFill>
            </a:endParaRPr>
          </a:p>
          <a:p>
            <a:pPr marL="457200" lvl="0" indent="-342900" algn="l" rtl="0">
              <a:spcBef>
                <a:spcPts val="1000"/>
              </a:spcBef>
              <a:spcAft>
                <a:spcPts val="0"/>
              </a:spcAft>
              <a:buClr>
                <a:schemeClr val="dk2"/>
              </a:buClr>
              <a:buSzPts val="1800"/>
              <a:buChar char="●"/>
            </a:pPr>
            <a:r>
              <a:rPr lang="en" sz="1800" b="1">
                <a:solidFill>
                  <a:schemeClr val="dk2"/>
                </a:solidFill>
              </a:rPr>
              <a:t>Trial/pilot projects should occur before massive rollout.</a:t>
            </a:r>
            <a:endParaRPr sz="1800" b="1">
              <a:solidFill>
                <a:schemeClr val="dk2"/>
              </a:solidFill>
            </a:endParaRPr>
          </a:p>
          <a:p>
            <a:pPr marL="457200" lvl="0" indent="-330200" algn="l" rtl="0">
              <a:spcBef>
                <a:spcPts val="1000"/>
              </a:spcBef>
              <a:spcAft>
                <a:spcPts val="0"/>
              </a:spcAft>
              <a:buClr>
                <a:schemeClr val="dk2"/>
              </a:buClr>
              <a:buSzPts val="1600"/>
              <a:buChar char="●"/>
            </a:pPr>
            <a:r>
              <a:rPr lang="en" sz="1800" b="1">
                <a:solidFill>
                  <a:schemeClr val="dk2"/>
                </a:solidFill>
              </a:rPr>
              <a:t>Lack of transparency, honesty, knowledge, and competence. </a:t>
            </a:r>
            <a:endParaRPr sz="1800" b="1">
              <a:solidFill>
                <a:schemeClr val="dk2"/>
              </a:solidFill>
            </a:endParaRPr>
          </a:p>
          <a:p>
            <a:pPr marL="457200" lvl="0" indent="-342900" algn="l" rtl="0">
              <a:spcBef>
                <a:spcPts val="1000"/>
              </a:spcBef>
              <a:spcAft>
                <a:spcPts val="0"/>
              </a:spcAft>
              <a:buClr>
                <a:schemeClr val="dk2"/>
              </a:buClr>
              <a:buSzPts val="1800"/>
              <a:buChar char="●"/>
            </a:pPr>
            <a:r>
              <a:rPr lang="en" sz="1800" b="1">
                <a:solidFill>
                  <a:schemeClr val="dk2"/>
                </a:solidFill>
              </a:rPr>
              <a:t>Inadequate communication with BOEM.</a:t>
            </a:r>
            <a:endParaRPr sz="1800" b="1">
              <a:solidFill>
                <a:schemeClr val="dk2"/>
              </a:solidFill>
            </a:endParaRPr>
          </a:p>
          <a:p>
            <a:pPr marL="457200" lvl="0" indent="-342900" algn="l" rtl="0">
              <a:spcBef>
                <a:spcPts val="1000"/>
              </a:spcBef>
              <a:spcAft>
                <a:spcPts val="0"/>
              </a:spcAft>
              <a:buClr>
                <a:schemeClr val="dk2"/>
              </a:buClr>
              <a:buSzPts val="1800"/>
              <a:buChar char="●"/>
            </a:pPr>
            <a:r>
              <a:rPr lang="en" sz="1800" b="1">
                <a:solidFill>
                  <a:schemeClr val="dk2"/>
                </a:solidFill>
              </a:rPr>
              <a:t>Desire for more meaningful collaboration and discussion with BOEM and OSW companies earlier in process.</a:t>
            </a:r>
            <a:endParaRPr sz="1800" b="1">
              <a:solidFill>
                <a:schemeClr val="dk2"/>
              </a:solidFill>
            </a:endParaRPr>
          </a:p>
          <a:p>
            <a:pPr marL="457200" lvl="0" indent="-342900" algn="l" rtl="0">
              <a:spcBef>
                <a:spcPts val="1000"/>
              </a:spcBef>
              <a:spcAft>
                <a:spcPts val="0"/>
              </a:spcAft>
              <a:buClr>
                <a:schemeClr val="dk2"/>
              </a:buClr>
              <a:buSzPts val="1800"/>
              <a:buChar char="●"/>
            </a:pPr>
            <a:r>
              <a:rPr lang="en" sz="1800" b="1">
                <a:solidFill>
                  <a:schemeClr val="dk2"/>
                </a:solidFill>
              </a:rPr>
              <a:t>Valuation estimates will not capture full estimate of area of resources.</a:t>
            </a:r>
            <a:r>
              <a:rPr lang="en" sz="1800">
                <a:solidFill>
                  <a:schemeClr val="dk2"/>
                </a:solidFill>
              </a:rPr>
              <a:t> (“good”/ “bad” areas change, hard to value upwelling ecosystem, etc.)</a:t>
            </a:r>
            <a:endParaRPr sz="1800">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2"/>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Challenges</a:t>
            </a:r>
            <a:endParaRPr>
              <a:solidFill>
                <a:schemeClr val="lt1"/>
              </a:solidFill>
            </a:endParaRPr>
          </a:p>
        </p:txBody>
      </p:sp>
      <p:pic>
        <p:nvPicPr>
          <p:cNvPr id="136" name="Google Shape;136;p22"/>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37" name="Google Shape;137;p22"/>
          <p:cNvSpPr txBox="1"/>
          <p:nvPr/>
        </p:nvSpPr>
        <p:spPr>
          <a:xfrm>
            <a:off x="403400" y="848850"/>
            <a:ext cx="7673400" cy="33570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Char char="●"/>
            </a:pPr>
            <a:r>
              <a:rPr lang="en" sz="1700" b="1">
                <a:solidFill>
                  <a:schemeClr val="dk2"/>
                </a:solidFill>
              </a:rPr>
              <a:t>“Regulated to extinction.” </a:t>
            </a:r>
            <a:r>
              <a:rPr lang="en" sz="1700">
                <a:solidFill>
                  <a:schemeClr val="dk2"/>
                </a:solidFill>
              </a:rPr>
              <a:t>Already squeezed by area closures; single-species management not working for some species</a:t>
            </a:r>
            <a:endParaRPr sz="1700" b="1">
              <a:solidFill>
                <a:schemeClr val="dk2"/>
              </a:solidFill>
            </a:endParaRPr>
          </a:p>
          <a:p>
            <a:pPr marL="457200" lvl="0" indent="-336550" algn="l" rtl="0">
              <a:spcBef>
                <a:spcPts val="1000"/>
              </a:spcBef>
              <a:spcAft>
                <a:spcPts val="0"/>
              </a:spcAft>
              <a:buClr>
                <a:schemeClr val="dk2"/>
              </a:buClr>
              <a:buSzPts val="1700"/>
              <a:buChar char="●"/>
            </a:pPr>
            <a:r>
              <a:rPr lang="en" sz="1700" b="1">
                <a:solidFill>
                  <a:schemeClr val="dk2"/>
                </a:solidFill>
              </a:rPr>
              <a:t>Unfavorable market conditions. </a:t>
            </a:r>
            <a:r>
              <a:rPr lang="en" sz="1700">
                <a:solidFill>
                  <a:schemeClr val="dk2"/>
                </a:solidFill>
              </a:rPr>
              <a:t>Lack of market and price drops for harvested species, increasing costs, fewer buyers, hard to compete with cheaper, less sustainable imported seafood.</a:t>
            </a:r>
            <a:endParaRPr sz="1700">
              <a:solidFill>
                <a:schemeClr val="dk2"/>
              </a:solidFill>
            </a:endParaRPr>
          </a:p>
          <a:p>
            <a:pPr marL="457200" lvl="0" indent="-336550" algn="l" rtl="0">
              <a:spcBef>
                <a:spcPts val="1000"/>
              </a:spcBef>
              <a:spcAft>
                <a:spcPts val="0"/>
              </a:spcAft>
              <a:buClr>
                <a:schemeClr val="dk2"/>
              </a:buClr>
              <a:buSzPts val="1700"/>
              <a:buChar char="●"/>
            </a:pPr>
            <a:r>
              <a:rPr lang="en" sz="1700" b="1">
                <a:solidFill>
                  <a:schemeClr val="dk2"/>
                </a:solidFill>
              </a:rPr>
              <a:t>Lack of infrastructure. </a:t>
            </a:r>
            <a:r>
              <a:rPr lang="en" sz="1700">
                <a:solidFill>
                  <a:schemeClr val="dk2"/>
                </a:solidFill>
              </a:rPr>
              <a:t>Lack of cold storage and processors (+ repair support)... but note it doesn’t matter if they can’t fish</a:t>
            </a:r>
            <a:endParaRPr sz="1700">
              <a:solidFill>
                <a:schemeClr val="dk2"/>
              </a:solidFill>
            </a:endParaRPr>
          </a:p>
          <a:p>
            <a:pPr marL="457200" lvl="0" indent="-336550" algn="l" rtl="0">
              <a:spcBef>
                <a:spcPts val="1000"/>
              </a:spcBef>
              <a:spcAft>
                <a:spcPts val="0"/>
              </a:spcAft>
              <a:buClr>
                <a:schemeClr val="dk2"/>
              </a:buClr>
              <a:buSzPts val="1700"/>
              <a:buChar char="●"/>
            </a:pPr>
            <a:r>
              <a:rPr lang="en" sz="1700" b="1">
                <a:solidFill>
                  <a:schemeClr val="dk2"/>
                </a:solidFill>
              </a:rPr>
              <a:t>Lack of support/public awareness. </a:t>
            </a:r>
            <a:r>
              <a:rPr lang="en" sz="1700">
                <a:solidFill>
                  <a:schemeClr val="dk2"/>
                </a:solidFill>
              </a:rPr>
              <a:t>Public is unaware about sustainability/quality of product; industry not supported by government.*</a:t>
            </a:r>
            <a:endParaRPr sz="1700">
              <a:solidFill>
                <a:schemeClr val="dk2"/>
              </a:solidFill>
            </a:endParaRPr>
          </a:p>
          <a:p>
            <a:pPr marL="457200" lvl="0" indent="-336550" algn="l" rtl="0">
              <a:spcBef>
                <a:spcPts val="1000"/>
              </a:spcBef>
              <a:spcAft>
                <a:spcPts val="0"/>
              </a:spcAft>
              <a:buClr>
                <a:schemeClr val="dk2"/>
              </a:buClr>
              <a:buSzPts val="1700"/>
              <a:buChar char="●"/>
            </a:pPr>
            <a:r>
              <a:rPr lang="en" sz="1700" b="1">
                <a:solidFill>
                  <a:schemeClr val="dk2"/>
                </a:solidFill>
              </a:rPr>
              <a:t>Everything is expensive. </a:t>
            </a:r>
            <a:r>
              <a:rPr lang="en" sz="1700">
                <a:solidFill>
                  <a:schemeClr val="dk2"/>
                </a:solidFill>
              </a:rPr>
              <a:t>Coastal CA, doing business in CA, gears, and permit are all expensive.</a:t>
            </a:r>
            <a:endParaRPr sz="1800">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3"/>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Challenges related to OSW</a:t>
            </a:r>
            <a:endParaRPr>
              <a:solidFill>
                <a:schemeClr val="lt1"/>
              </a:solidFill>
            </a:endParaRPr>
          </a:p>
        </p:txBody>
      </p:sp>
      <p:pic>
        <p:nvPicPr>
          <p:cNvPr id="144" name="Google Shape;144;p23"/>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45" name="Google Shape;145;p23"/>
          <p:cNvSpPr txBox="1"/>
          <p:nvPr/>
        </p:nvSpPr>
        <p:spPr>
          <a:xfrm>
            <a:off x="403400" y="848850"/>
            <a:ext cx="7673400" cy="33570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2"/>
              </a:buClr>
              <a:buSzPts val="1600"/>
              <a:buChar char="●"/>
            </a:pPr>
            <a:r>
              <a:rPr lang="en" sz="1800" b="1">
                <a:solidFill>
                  <a:schemeClr val="dk2"/>
                </a:solidFill>
              </a:rPr>
              <a:t>OSW will disrupt fishing activity, largely through fishery exclusion. </a:t>
            </a:r>
            <a:r>
              <a:rPr lang="en" sz="1800">
                <a:solidFill>
                  <a:schemeClr val="dk2"/>
                </a:solidFill>
              </a:rPr>
              <a:t>Concentrates fishermen/fisheries, increases transit time, increasing cost and reducing product quality</a:t>
            </a:r>
            <a:endParaRPr sz="1800">
              <a:solidFill>
                <a:schemeClr val="dk2"/>
              </a:solidFill>
            </a:endParaRPr>
          </a:p>
          <a:p>
            <a:pPr marL="457200" lvl="0" indent="-330200" algn="l" rtl="0">
              <a:spcBef>
                <a:spcPts val="1000"/>
              </a:spcBef>
              <a:spcAft>
                <a:spcPts val="0"/>
              </a:spcAft>
              <a:buClr>
                <a:schemeClr val="dk2"/>
              </a:buClr>
              <a:buSzPts val="1600"/>
              <a:buChar char="●"/>
            </a:pPr>
            <a:r>
              <a:rPr lang="en" sz="1800" b="1">
                <a:solidFill>
                  <a:schemeClr val="dk2"/>
                </a:solidFill>
              </a:rPr>
              <a:t>OSW could compromise scientific assessment through disrupted surveys.</a:t>
            </a:r>
            <a:endParaRPr sz="1800" b="1">
              <a:solidFill>
                <a:schemeClr val="dk2"/>
              </a:solidFill>
            </a:endParaRPr>
          </a:p>
          <a:p>
            <a:pPr marL="457200" lvl="0" indent="-342900" algn="l" rtl="0">
              <a:spcBef>
                <a:spcPts val="1000"/>
              </a:spcBef>
              <a:spcAft>
                <a:spcPts val="0"/>
              </a:spcAft>
              <a:buClr>
                <a:schemeClr val="dk2"/>
              </a:buClr>
              <a:buSzPts val="1800"/>
              <a:buChar char="●"/>
            </a:pPr>
            <a:r>
              <a:rPr lang="en" sz="1800" b="1">
                <a:solidFill>
                  <a:schemeClr val="dk2"/>
                </a:solidFill>
              </a:rPr>
              <a:t>“Another hit,” “death by a thousand cuts, and this is a huge wound.” </a:t>
            </a:r>
            <a:r>
              <a:rPr lang="en" sz="1800">
                <a:solidFill>
                  <a:schemeClr val="dk2"/>
                </a:solidFill>
              </a:rPr>
              <a:t>OSW will make it harder to operate in an industry that is already difficult to operate in</a:t>
            </a:r>
            <a:endParaRPr sz="1800">
              <a:solidFill>
                <a:schemeClr val="dk2"/>
              </a:solidFill>
            </a:endParaRPr>
          </a:p>
          <a:p>
            <a:pPr marL="457200" lvl="0" indent="-342900" algn="l" rtl="0">
              <a:spcBef>
                <a:spcPts val="1000"/>
              </a:spcBef>
              <a:spcAft>
                <a:spcPts val="0"/>
              </a:spcAft>
              <a:buClr>
                <a:schemeClr val="dk2"/>
              </a:buClr>
              <a:buSzPts val="1800"/>
              <a:buChar char="●"/>
            </a:pPr>
            <a:r>
              <a:rPr lang="en" sz="1800" b="1">
                <a:solidFill>
                  <a:schemeClr val="dk2"/>
                </a:solidFill>
              </a:rPr>
              <a:t>Industrialization from OSW threatens culture, community, identity.</a:t>
            </a:r>
            <a:endParaRPr sz="1800" b="1">
              <a:solidFill>
                <a:schemeClr val="dk2"/>
              </a:solidFill>
            </a:endParaRPr>
          </a:p>
          <a:p>
            <a:pPr marL="457200" lvl="0" indent="0" algn="l" rtl="0">
              <a:spcBef>
                <a:spcPts val="1000"/>
              </a:spcBef>
              <a:spcAft>
                <a:spcPts val="0"/>
              </a:spcAft>
              <a:buNone/>
            </a:pPr>
            <a:endParaRPr sz="1900">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4"/>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Mitigation related to OSW</a:t>
            </a:r>
            <a:endParaRPr>
              <a:solidFill>
                <a:schemeClr val="lt1"/>
              </a:solidFill>
            </a:endParaRPr>
          </a:p>
        </p:txBody>
      </p:sp>
      <p:pic>
        <p:nvPicPr>
          <p:cNvPr id="152" name="Google Shape;152;p24"/>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53" name="Google Shape;153;p24"/>
          <p:cNvSpPr txBox="1"/>
          <p:nvPr/>
        </p:nvSpPr>
        <p:spPr>
          <a:xfrm>
            <a:off x="403400" y="848850"/>
            <a:ext cx="7673400" cy="33570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2"/>
              </a:buClr>
              <a:buSzPts val="1200"/>
              <a:buChar char="●"/>
            </a:pPr>
            <a:r>
              <a:rPr lang="en" sz="1200" b="1">
                <a:solidFill>
                  <a:schemeClr val="dk2"/>
                </a:solidFill>
              </a:rPr>
              <a:t>Clear communication regarding scale and scope of OSW. </a:t>
            </a:r>
            <a:r>
              <a:rPr lang="en" sz="1200">
                <a:solidFill>
                  <a:schemeClr val="dk2"/>
                </a:solidFill>
              </a:rPr>
              <a:t>Fishermen can’t anticipate impacts without this info</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Monitoring, enforcement, and transparency related to impacts from OSW.</a:t>
            </a:r>
            <a:endParaRPr sz="1200" b="1">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More data collection and scientific analysis. </a:t>
            </a:r>
            <a:r>
              <a:rPr lang="en" sz="1200">
                <a:solidFill>
                  <a:schemeClr val="dk2"/>
                </a:solidFill>
              </a:rPr>
              <a:t>NOAA surveys, study cumulative impacts, BACI studies. Idea: have fishermen drag instruments and collect data to supplement income</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Community fund modeled after the Cable Committee Agreement.</a:t>
            </a:r>
            <a:endParaRPr sz="1200" b="1">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Exit strategies. </a:t>
            </a:r>
            <a:r>
              <a:rPr lang="en" sz="1200">
                <a:solidFill>
                  <a:schemeClr val="dk2"/>
                </a:solidFill>
              </a:rPr>
              <a:t>Leasees should be responsible for decommissioning and a strategy devised for when companies leave without decommissioning</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Scale mitigation funding with scale of OSW.</a:t>
            </a:r>
            <a:endParaRPr sz="1200" b="1">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Utilize/mandate OSW designs that lessen impacts on fisheries. </a:t>
            </a:r>
            <a:r>
              <a:rPr lang="en" sz="1200">
                <a:solidFill>
                  <a:schemeClr val="dk2"/>
                </a:solidFill>
              </a:rPr>
              <a:t>(although this could affect the economic feasibility of OSW)</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Allow fishermen to benefit from local boat mechanics brought in for OSW.</a:t>
            </a:r>
            <a:endParaRPr sz="1200" b="1">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Hire professional to represent them (e.g., lawyers, lobbyist). </a:t>
            </a:r>
            <a:endParaRPr sz="1200" b="1">
              <a:solidFill>
                <a:schemeClr val="dk2"/>
              </a:solidFill>
            </a:endParaRPr>
          </a:p>
          <a:p>
            <a:pPr marL="457200" lvl="0" indent="0" algn="l" rtl="0">
              <a:spcBef>
                <a:spcPts val="1000"/>
              </a:spcBef>
              <a:spcAft>
                <a:spcPts val="0"/>
              </a:spcAft>
              <a:buNone/>
            </a:pPr>
            <a:endParaRPr sz="1900">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5"/>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Mitigation more generally</a:t>
            </a:r>
            <a:endParaRPr>
              <a:solidFill>
                <a:schemeClr val="lt1"/>
              </a:solidFill>
            </a:endParaRPr>
          </a:p>
        </p:txBody>
      </p:sp>
      <p:pic>
        <p:nvPicPr>
          <p:cNvPr id="160" name="Google Shape;160;p25"/>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61" name="Google Shape;161;p25"/>
          <p:cNvSpPr txBox="1"/>
          <p:nvPr/>
        </p:nvSpPr>
        <p:spPr>
          <a:xfrm>
            <a:off x="403400" y="696450"/>
            <a:ext cx="7673400" cy="33570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2"/>
              </a:buClr>
              <a:buSzPts val="1200"/>
              <a:buChar char="●"/>
            </a:pPr>
            <a:r>
              <a:rPr lang="en" sz="1200" b="1">
                <a:solidFill>
                  <a:schemeClr val="dk2"/>
                </a:solidFill>
              </a:rPr>
              <a:t>More scientific data collections and analyses. </a:t>
            </a:r>
            <a:r>
              <a:rPr lang="en" sz="1200">
                <a:solidFill>
                  <a:schemeClr val="dk2"/>
                </a:solidFill>
              </a:rPr>
              <a:t>Need for nearshore wetfish; analyses should consider why catch decreases (market conditions? infrastructure issues?)</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Ease/adjust regulations. </a:t>
            </a:r>
            <a:r>
              <a:rPr lang="en" sz="1200">
                <a:solidFill>
                  <a:schemeClr val="dk2"/>
                </a:solidFill>
              </a:rPr>
              <a:t>Permitting that allows fishermen to follow fish (consider borders), regulate hours of net on bottom instead of individual species, don’t lower catch limit just because there is a decrease in landings, adjust protected species numbers to reflect growth in populations, use warning for Dungeness crab, allow for small scale catch without seine permit for squid/wetfish </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Improve infrastructure/technology. </a:t>
            </a:r>
            <a:r>
              <a:rPr lang="en" sz="1200">
                <a:solidFill>
                  <a:schemeClr val="dk2"/>
                </a:solidFill>
              </a:rPr>
              <a:t>Cold storage is very important and ice plants are “dilapidated” on the WC; provide funding to adopt technologies like nanofreeze </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Improve market conditions. </a:t>
            </a:r>
            <a:r>
              <a:rPr lang="en" sz="1200">
                <a:solidFill>
                  <a:schemeClr val="dk2"/>
                </a:solidFill>
              </a:rPr>
              <a:t>Educate the public and consumers on sustainability of resource compared to imported seafood, </a:t>
            </a:r>
            <a:r>
              <a:rPr lang="en" sz="1200" b="1">
                <a:solidFill>
                  <a:schemeClr val="dk2"/>
                </a:solidFill>
              </a:rPr>
              <a:t>level the playing field between domestic and foreign fisheries with federal policies that prioritize the US…</a:t>
            </a:r>
            <a:endParaRPr sz="1200" b="1">
              <a:solidFill>
                <a:schemeClr val="dk2"/>
              </a:solidFill>
            </a:endParaRPr>
          </a:p>
          <a:p>
            <a:pPr marL="457200" lvl="0" indent="0" algn="l" rtl="0">
              <a:spcBef>
                <a:spcPts val="1000"/>
              </a:spcBef>
              <a:spcAft>
                <a:spcPts val="0"/>
              </a:spcAft>
              <a:buNone/>
            </a:pPr>
            <a:endParaRPr sz="1900">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 name="Google Shape;167;p26"/>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Bonus image</a:t>
            </a:r>
            <a:endParaRPr>
              <a:solidFill>
                <a:schemeClr val="lt1"/>
              </a:solidFill>
            </a:endParaRPr>
          </a:p>
        </p:txBody>
      </p:sp>
      <p:pic>
        <p:nvPicPr>
          <p:cNvPr id="168" name="Google Shape;168;p26"/>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69" name="Google Shape;169;p26"/>
          <p:cNvSpPr txBox="1"/>
          <p:nvPr/>
        </p:nvSpPr>
        <p:spPr>
          <a:xfrm>
            <a:off x="403400" y="696450"/>
            <a:ext cx="7673400" cy="33570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lt2"/>
              </a:buClr>
              <a:buSzPts val="1200"/>
              <a:buChar char="●"/>
            </a:pPr>
            <a:r>
              <a:rPr lang="en" sz="1200" b="1">
                <a:solidFill>
                  <a:schemeClr val="lt2"/>
                </a:solidFill>
              </a:rPr>
              <a:t>More scientific data collections and analyses. </a:t>
            </a:r>
            <a:r>
              <a:rPr lang="en" sz="1200">
                <a:solidFill>
                  <a:schemeClr val="lt2"/>
                </a:solidFill>
              </a:rPr>
              <a:t>Need for nearshore wetfish; analyses should consider why catch decreases (market conditions? infrastructure issues?)</a:t>
            </a:r>
            <a:endParaRPr sz="1200">
              <a:solidFill>
                <a:schemeClr val="lt2"/>
              </a:solidFill>
            </a:endParaRPr>
          </a:p>
          <a:p>
            <a:pPr marL="457200" lvl="0" indent="-304800" algn="l" rtl="0">
              <a:spcBef>
                <a:spcPts val="1000"/>
              </a:spcBef>
              <a:spcAft>
                <a:spcPts val="0"/>
              </a:spcAft>
              <a:buClr>
                <a:schemeClr val="lt2"/>
              </a:buClr>
              <a:buSzPts val="1200"/>
              <a:buChar char="●"/>
            </a:pPr>
            <a:r>
              <a:rPr lang="en" sz="1200" b="1">
                <a:solidFill>
                  <a:schemeClr val="lt2"/>
                </a:solidFill>
              </a:rPr>
              <a:t>Ease/adjust regulations. </a:t>
            </a:r>
            <a:r>
              <a:rPr lang="en" sz="1200">
                <a:solidFill>
                  <a:schemeClr val="lt2"/>
                </a:solidFill>
              </a:rPr>
              <a:t>Permitting that allows fishermen to follow fish (consider borders), regulate hours of net on bottom instead of individual species, don’t lower catch limit just because there is a decrease in landings, adjust protected species numbers to reflect growth in populations, use warning for Dungeness crab, allow for small scale catch without seine permit for squid/wetfish </a:t>
            </a:r>
            <a:endParaRPr sz="1200">
              <a:solidFill>
                <a:schemeClr val="lt2"/>
              </a:solidFill>
            </a:endParaRPr>
          </a:p>
          <a:p>
            <a:pPr marL="457200" lvl="0" indent="-304800" algn="l" rtl="0">
              <a:spcBef>
                <a:spcPts val="1000"/>
              </a:spcBef>
              <a:spcAft>
                <a:spcPts val="0"/>
              </a:spcAft>
              <a:buClr>
                <a:schemeClr val="lt2"/>
              </a:buClr>
              <a:buSzPts val="1200"/>
              <a:buChar char="●"/>
            </a:pPr>
            <a:r>
              <a:rPr lang="en" sz="1200" b="1">
                <a:solidFill>
                  <a:schemeClr val="lt2"/>
                </a:solidFill>
              </a:rPr>
              <a:t>Improve infrastructure/technology. </a:t>
            </a:r>
            <a:r>
              <a:rPr lang="en" sz="1200">
                <a:solidFill>
                  <a:schemeClr val="lt2"/>
                </a:solidFill>
              </a:rPr>
              <a:t>Cold storage is very important and ice plants are “dilapidated” on the WC; provide funding to adopt technologies like nanofreeze </a:t>
            </a:r>
            <a:endParaRPr sz="1200">
              <a:solidFill>
                <a:schemeClr val="lt2"/>
              </a:solidFill>
            </a:endParaRPr>
          </a:p>
          <a:p>
            <a:pPr marL="457200" lvl="0" indent="-304800" algn="l" rtl="0">
              <a:spcBef>
                <a:spcPts val="1000"/>
              </a:spcBef>
              <a:spcAft>
                <a:spcPts val="0"/>
              </a:spcAft>
              <a:buClr>
                <a:schemeClr val="lt2"/>
              </a:buClr>
              <a:buSzPts val="1200"/>
              <a:buChar char="●"/>
            </a:pPr>
            <a:r>
              <a:rPr lang="en" sz="1200" b="1">
                <a:solidFill>
                  <a:schemeClr val="lt2"/>
                </a:solidFill>
              </a:rPr>
              <a:t>Improve market conditions. </a:t>
            </a:r>
            <a:r>
              <a:rPr lang="en" sz="1200">
                <a:solidFill>
                  <a:schemeClr val="lt2"/>
                </a:solidFill>
              </a:rPr>
              <a:t>Educate the public and consumers on sustainability of resource compared to imported seafood, </a:t>
            </a:r>
            <a:r>
              <a:rPr lang="en" sz="1200" b="1">
                <a:solidFill>
                  <a:schemeClr val="lt2"/>
                </a:solidFill>
              </a:rPr>
              <a:t>level the playing field between domestic and foreign fisheries with federal policies that prioritize the US…</a:t>
            </a:r>
            <a:endParaRPr sz="1200" b="1">
              <a:solidFill>
                <a:schemeClr val="lt2"/>
              </a:solidFill>
            </a:endParaRPr>
          </a:p>
          <a:p>
            <a:pPr marL="457200" lvl="0" indent="0" algn="l" rtl="0">
              <a:spcBef>
                <a:spcPts val="1000"/>
              </a:spcBef>
              <a:spcAft>
                <a:spcPts val="0"/>
              </a:spcAft>
              <a:buNone/>
            </a:pPr>
            <a:endParaRPr sz="1900">
              <a:solidFill>
                <a:schemeClr val="lt2"/>
              </a:solidFill>
            </a:endParaRPr>
          </a:p>
          <a:p>
            <a:pPr marL="457200" lvl="0" indent="0" algn="l" rtl="0">
              <a:spcBef>
                <a:spcPts val="1000"/>
              </a:spcBef>
              <a:spcAft>
                <a:spcPts val="0"/>
              </a:spcAft>
              <a:buNone/>
            </a:pPr>
            <a:endParaRPr sz="1900">
              <a:solidFill>
                <a:schemeClr val="lt2"/>
              </a:solidFill>
            </a:endParaRPr>
          </a:p>
          <a:p>
            <a:pPr marL="0" lvl="0" indent="0" algn="l" rtl="0">
              <a:lnSpc>
                <a:spcPct val="115000"/>
              </a:lnSpc>
              <a:spcBef>
                <a:spcPts val="1000"/>
              </a:spcBef>
              <a:spcAft>
                <a:spcPts val="0"/>
              </a:spcAft>
              <a:buNone/>
            </a:pPr>
            <a:endParaRPr sz="1800">
              <a:solidFill>
                <a:schemeClr val="lt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pic>
        <p:nvPicPr>
          <p:cNvPr id="170" name="Google Shape;170;p26"/>
          <p:cNvPicPr preferRelativeResize="0"/>
          <p:nvPr/>
        </p:nvPicPr>
        <p:blipFill>
          <a:blip r:embed="rId4">
            <a:alphaModFix/>
          </a:blip>
          <a:stretch>
            <a:fillRect/>
          </a:stretch>
        </p:blipFill>
        <p:spPr>
          <a:xfrm>
            <a:off x="1323987" y="1109350"/>
            <a:ext cx="6495923" cy="3619075"/>
          </a:xfrm>
          <a:prstGeom prst="rect">
            <a:avLst/>
          </a:prstGeom>
          <a:noFill/>
          <a:ln w="28575" cap="flat" cmpd="sng">
            <a:solidFill>
              <a:schemeClr val="dk2"/>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7"/>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 name="Google Shape;176;p27"/>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You’ve made it so far without images… </a:t>
            </a:r>
            <a:endParaRPr>
              <a:solidFill>
                <a:schemeClr val="lt1"/>
              </a:solidFill>
            </a:endParaRPr>
          </a:p>
          <a:p>
            <a:pPr marL="0" lvl="0" indent="0" algn="l" rtl="0">
              <a:spcBef>
                <a:spcPts val="0"/>
              </a:spcBef>
              <a:spcAft>
                <a:spcPts val="0"/>
              </a:spcAft>
              <a:buNone/>
            </a:pPr>
            <a:endParaRPr sz="2022">
              <a:solidFill>
                <a:schemeClr val="lt1"/>
              </a:solidFill>
            </a:endParaRPr>
          </a:p>
        </p:txBody>
      </p:sp>
      <p:pic>
        <p:nvPicPr>
          <p:cNvPr id="177" name="Google Shape;177;p27"/>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78" name="Google Shape;178;p27"/>
          <p:cNvSpPr txBox="1"/>
          <p:nvPr/>
        </p:nvSpPr>
        <p:spPr>
          <a:xfrm>
            <a:off x="403400" y="696450"/>
            <a:ext cx="7673400" cy="33570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lt2"/>
              </a:buClr>
              <a:buSzPts val="1200"/>
              <a:buChar char="●"/>
            </a:pPr>
            <a:r>
              <a:rPr lang="en" sz="1200" b="1">
                <a:solidFill>
                  <a:schemeClr val="lt2"/>
                </a:solidFill>
              </a:rPr>
              <a:t>More scientific data collections and analyses. </a:t>
            </a:r>
            <a:r>
              <a:rPr lang="en" sz="1200">
                <a:solidFill>
                  <a:schemeClr val="lt2"/>
                </a:solidFill>
              </a:rPr>
              <a:t>Need for nearshore wetfish; analyses should consider why catch decreases (market conditions? infrastructure issues?)</a:t>
            </a:r>
            <a:endParaRPr sz="1200">
              <a:solidFill>
                <a:schemeClr val="lt2"/>
              </a:solidFill>
            </a:endParaRPr>
          </a:p>
          <a:p>
            <a:pPr marL="457200" lvl="0" indent="-304800" algn="l" rtl="0">
              <a:spcBef>
                <a:spcPts val="1000"/>
              </a:spcBef>
              <a:spcAft>
                <a:spcPts val="0"/>
              </a:spcAft>
              <a:buClr>
                <a:schemeClr val="lt2"/>
              </a:buClr>
              <a:buSzPts val="1200"/>
              <a:buChar char="●"/>
            </a:pPr>
            <a:r>
              <a:rPr lang="en" sz="1200" b="1">
                <a:solidFill>
                  <a:schemeClr val="lt2"/>
                </a:solidFill>
              </a:rPr>
              <a:t>Ease/adjust regulations. </a:t>
            </a:r>
            <a:r>
              <a:rPr lang="en" sz="1200">
                <a:solidFill>
                  <a:schemeClr val="lt2"/>
                </a:solidFill>
              </a:rPr>
              <a:t>Permitting that allows fishermen to follow fish (consider borders), regulate hours of net on bottom instead of individual species, don’t lower catch limit just because there is a decrease in landings, adjust protected species numbers to reflect growth in populations, use warning for Dungeness crab, allow for small scale catch without seine permit for squid/wetfish </a:t>
            </a:r>
            <a:endParaRPr sz="1200">
              <a:solidFill>
                <a:schemeClr val="lt2"/>
              </a:solidFill>
            </a:endParaRPr>
          </a:p>
          <a:p>
            <a:pPr marL="457200" lvl="0" indent="-304800" algn="l" rtl="0">
              <a:spcBef>
                <a:spcPts val="1000"/>
              </a:spcBef>
              <a:spcAft>
                <a:spcPts val="0"/>
              </a:spcAft>
              <a:buClr>
                <a:schemeClr val="lt2"/>
              </a:buClr>
              <a:buSzPts val="1200"/>
              <a:buChar char="●"/>
            </a:pPr>
            <a:r>
              <a:rPr lang="en" sz="1200" b="1">
                <a:solidFill>
                  <a:schemeClr val="lt2"/>
                </a:solidFill>
              </a:rPr>
              <a:t>Improve infrastructure/technology. </a:t>
            </a:r>
            <a:r>
              <a:rPr lang="en" sz="1200">
                <a:solidFill>
                  <a:schemeClr val="lt2"/>
                </a:solidFill>
              </a:rPr>
              <a:t>Cold storage is very important and ice plants are “dilapidated” on the WC; provide funding to adopt technologies like nanofreeze </a:t>
            </a:r>
            <a:endParaRPr sz="1200">
              <a:solidFill>
                <a:schemeClr val="lt2"/>
              </a:solidFill>
            </a:endParaRPr>
          </a:p>
          <a:p>
            <a:pPr marL="457200" lvl="0" indent="-304800" algn="l" rtl="0">
              <a:spcBef>
                <a:spcPts val="1000"/>
              </a:spcBef>
              <a:spcAft>
                <a:spcPts val="0"/>
              </a:spcAft>
              <a:buClr>
                <a:schemeClr val="lt2"/>
              </a:buClr>
              <a:buSzPts val="1200"/>
              <a:buChar char="●"/>
            </a:pPr>
            <a:r>
              <a:rPr lang="en" sz="1200" b="1">
                <a:solidFill>
                  <a:schemeClr val="lt2"/>
                </a:solidFill>
              </a:rPr>
              <a:t>Improve market conditions. </a:t>
            </a:r>
            <a:r>
              <a:rPr lang="en" sz="1200">
                <a:solidFill>
                  <a:schemeClr val="lt2"/>
                </a:solidFill>
              </a:rPr>
              <a:t>Educate the public and consumers on sustainability of resource compared to imported seafood, </a:t>
            </a:r>
            <a:r>
              <a:rPr lang="en" sz="1200" b="1">
                <a:solidFill>
                  <a:schemeClr val="lt2"/>
                </a:solidFill>
              </a:rPr>
              <a:t>level the playing field between domestic and foreign fisheries with federal policies that prioritize the US…</a:t>
            </a:r>
            <a:endParaRPr sz="1200" b="1">
              <a:solidFill>
                <a:schemeClr val="lt2"/>
              </a:solidFill>
            </a:endParaRPr>
          </a:p>
          <a:p>
            <a:pPr marL="457200" lvl="0" indent="0" algn="l" rtl="0">
              <a:spcBef>
                <a:spcPts val="1000"/>
              </a:spcBef>
              <a:spcAft>
                <a:spcPts val="0"/>
              </a:spcAft>
              <a:buNone/>
            </a:pPr>
            <a:endParaRPr sz="1900">
              <a:solidFill>
                <a:schemeClr val="lt2"/>
              </a:solidFill>
            </a:endParaRPr>
          </a:p>
          <a:p>
            <a:pPr marL="457200" lvl="0" indent="0" algn="l" rtl="0">
              <a:spcBef>
                <a:spcPts val="1000"/>
              </a:spcBef>
              <a:spcAft>
                <a:spcPts val="0"/>
              </a:spcAft>
              <a:buNone/>
            </a:pPr>
            <a:endParaRPr sz="1900">
              <a:solidFill>
                <a:schemeClr val="lt2"/>
              </a:solidFill>
            </a:endParaRPr>
          </a:p>
          <a:p>
            <a:pPr marL="0" lvl="0" indent="0" algn="l" rtl="0">
              <a:lnSpc>
                <a:spcPct val="115000"/>
              </a:lnSpc>
              <a:spcBef>
                <a:spcPts val="1000"/>
              </a:spcBef>
              <a:spcAft>
                <a:spcPts val="0"/>
              </a:spcAft>
              <a:buNone/>
            </a:pPr>
            <a:endParaRPr sz="1800">
              <a:solidFill>
                <a:schemeClr val="lt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pic>
        <p:nvPicPr>
          <p:cNvPr id="179" name="Google Shape;179;p27"/>
          <p:cNvPicPr preferRelativeResize="0"/>
          <p:nvPr/>
        </p:nvPicPr>
        <p:blipFill>
          <a:blip r:embed="rId4">
            <a:alphaModFix/>
          </a:blip>
          <a:stretch>
            <a:fillRect/>
          </a:stretch>
        </p:blipFill>
        <p:spPr>
          <a:xfrm>
            <a:off x="1323975" y="1109350"/>
            <a:ext cx="6495923" cy="3580990"/>
          </a:xfrm>
          <a:prstGeom prst="rect">
            <a:avLst/>
          </a:prstGeom>
          <a:noFill/>
          <a:ln w="28575" cap="flat" cmpd="sng">
            <a:solidFill>
              <a:schemeClr val="dk2"/>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8"/>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 name="Google Shape;185;p28"/>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Summary. </a:t>
            </a:r>
            <a:r>
              <a:rPr lang="en" sz="2022">
                <a:solidFill>
                  <a:schemeClr val="lt1"/>
                </a:solidFill>
              </a:rPr>
              <a:t>Mitigation more generally</a:t>
            </a:r>
            <a:endParaRPr>
              <a:solidFill>
                <a:schemeClr val="lt1"/>
              </a:solidFill>
            </a:endParaRPr>
          </a:p>
        </p:txBody>
      </p:sp>
      <p:pic>
        <p:nvPicPr>
          <p:cNvPr id="186" name="Google Shape;186;p28"/>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87" name="Google Shape;187;p28"/>
          <p:cNvSpPr txBox="1"/>
          <p:nvPr/>
        </p:nvSpPr>
        <p:spPr>
          <a:xfrm>
            <a:off x="403400" y="696450"/>
            <a:ext cx="7673400" cy="33570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2"/>
              </a:buClr>
              <a:buSzPts val="1200"/>
              <a:buChar char="●"/>
            </a:pPr>
            <a:r>
              <a:rPr lang="en" sz="1200" b="1">
                <a:solidFill>
                  <a:schemeClr val="dk2"/>
                </a:solidFill>
              </a:rPr>
              <a:t>More scientific data collections and analyses. </a:t>
            </a:r>
            <a:r>
              <a:rPr lang="en" sz="1200">
                <a:solidFill>
                  <a:schemeClr val="dk2"/>
                </a:solidFill>
              </a:rPr>
              <a:t>Need for nearshore wetfish; analyses should consider why catch decreases (market conditions? infrastructure issues?)</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Ease/adjust regulations. </a:t>
            </a:r>
            <a:r>
              <a:rPr lang="en" sz="1200">
                <a:solidFill>
                  <a:schemeClr val="dk2"/>
                </a:solidFill>
              </a:rPr>
              <a:t>Permitting that allows fishermen to follow fish (consider borders), regulate hours of net on bottom instead of individual species, don’t lower catch limit just because there is a decrease in landings, adjust protected species numbers to reflect growth in populations, use warning for Dungeness crab, allow for small scale catch without seine permit for squid/wetfish </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Improve infrastructure/technology. </a:t>
            </a:r>
            <a:r>
              <a:rPr lang="en" sz="1200">
                <a:solidFill>
                  <a:schemeClr val="dk2"/>
                </a:solidFill>
              </a:rPr>
              <a:t>Cold storage is very important and ice plants are “dilapidated” on the WC; provide funding to adopt technologies like nanofreeze </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Improve market conditions. </a:t>
            </a:r>
            <a:r>
              <a:rPr lang="en" sz="1200">
                <a:solidFill>
                  <a:schemeClr val="dk2"/>
                </a:solidFill>
              </a:rPr>
              <a:t>Educate the public and consumers on sustainability of resource compared to imported seafood, level the playing field between domestic and foreign fisheries</a:t>
            </a:r>
            <a:endParaRPr sz="1200">
              <a:solidFill>
                <a:schemeClr val="dk2"/>
              </a:solidFill>
            </a:endParaRPr>
          </a:p>
          <a:p>
            <a:pPr marL="914400" lvl="1" indent="-304800" algn="l" rtl="0">
              <a:spcBef>
                <a:spcPts val="1000"/>
              </a:spcBef>
              <a:spcAft>
                <a:spcPts val="0"/>
              </a:spcAft>
              <a:buClr>
                <a:schemeClr val="dk2"/>
              </a:buClr>
              <a:buSzPts val="1200"/>
              <a:buChar char="○"/>
            </a:pPr>
            <a:r>
              <a:rPr lang="en" sz="1200">
                <a:solidFill>
                  <a:schemeClr val="dk2"/>
                </a:solidFill>
              </a:rPr>
              <a:t>Policies that prioritize the US, enforcing MMA abroad, tariffs(?) </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Increase opportunities for younger generation. </a:t>
            </a:r>
            <a:r>
              <a:rPr lang="en" sz="1200">
                <a:solidFill>
                  <a:schemeClr val="dk2"/>
                </a:solidFill>
              </a:rPr>
              <a:t>Apprenticeship with Sea Grant, scholarships.</a:t>
            </a:r>
            <a:endParaRPr sz="1200" b="1">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Mixed interest in insurance. </a:t>
            </a:r>
            <a:r>
              <a:rPr lang="en" sz="1200">
                <a:solidFill>
                  <a:schemeClr val="dk2"/>
                </a:solidFill>
              </a:rPr>
              <a:t>Some interest in a fisheries-specific insurance plan like that of agriculture, but also participants weren’t sure if people could pay for it.</a:t>
            </a:r>
            <a:endParaRPr sz="1200">
              <a:solidFill>
                <a:schemeClr val="dk2"/>
              </a:solidFill>
            </a:endParaRPr>
          </a:p>
          <a:p>
            <a:pPr marL="457200" lvl="0" indent="-304800" algn="l" rtl="0">
              <a:spcBef>
                <a:spcPts val="1000"/>
              </a:spcBef>
              <a:spcAft>
                <a:spcPts val="0"/>
              </a:spcAft>
              <a:buClr>
                <a:schemeClr val="dk2"/>
              </a:buClr>
              <a:buSzPts val="1200"/>
              <a:buChar char="●"/>
            </a:pPr>
            <a:r>
              <a:rPr lang="en" sz="1200" b="1">
                <a:solidFill>
                  <a:schemeClr val="dk2"/>
                </a:solidFill>
              </a:rPr>
              <a:t>Not interested in adding new habitat. </a:t>
            </a:r>
            <a:r>
              <a:rPr lang="en" sz="1200">
                <a:solidFill>
                  <a:schemeClr val="dk2"/>
                </a:solidFill>
              </a:rPr>
              <a:t>They want to maintain the ecosystem that they have.</a:t>
            </a:r>
            <a:endParaRPr sz="1900">
              <a:solidFill>
                <a:schemeClr val="dk2"/>
              </a:solidFill>
            </a:endParaRPr>
          </a:p>
          <a:p>
            <a:pPr marL="457200" lvl="0" indent="0" algn="l" rtl="0">
              <a:spcBef>
                <a:spcPts val="1000"/>
              </a:spcBef>
              <a:spcAft>
                <a:spcPts val="0"/>
              </a:spcAft>
              <a:buNone/>
            </a:pPr>
            <a:endParaRPr sz="1900">
              <a:solidFill>
                <a:schemeClr val="dk2"/>
              </a:solidFill>
            </a:endParaRPr>
          </a:p>
          <a:p>
            <a:pPr marL="0" lvl="0" indent="0" algn="l" rtl="0">
              <a:lnSpc>
                <a:spcPct val="115000"/>
              </a:lnSpc>
              <a:spcBef>
                <a:spcPts val="1000"/>
              </a:spcBef>
              <a:spcAft>
                <a:spcPts val="0"/>
              </a:spcAft>
              <a:buNone/>
            </a:pPr>
            <a:endParaRPr sz="1800">
              <a:solidFill>
                <a:schemeClr val="dk2"/>
              </a:solidFill>
            </a:endParaRPr>
          </a:p>
          <a:p>
            <a:pPr marL="0" lvl="0" indent="0" algn="l"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9"/>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3" name="Google Shape;193;p29"/>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Regional differences</a:t>
            </a:r>
            <a:endParaRPr>
              <a:solidFill>
                <a:schemeClr val="lt1"/>
              </a:solidFill>
            </a:endParaRPr>
          </a:p>
        </p:txBody>
      </p:sp>
      <p:pic>
        <p:nvPicPr>
          <p:cNvPr id="194" name="Google Shape;194;p29"/>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195" name="Google Shape;195;p29"/>
          <p:cNvSpPr txBox="1"/>
          <p:nvPr/>
        </p:nvSpPr>
        <p:spPr>
          <a:xfrm>
            <a:off x="403400" y="848850"/>
            <a:ext cx="7505100" cy="335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2"/>
                </a:solidFill>
              </a:rPr>
              <a:t>CA compared to OR:</a:t>
            </a:r>
            <a:endParaRPr sz="1800" b="1">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CA more open to subsidies than OR</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Feeling that OR has more support from state government than CA</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Aging of the fleet and challenges for the younger generation more of a concern in CA compared to OR</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a:p>
            <a:pPr marL="0" lvl="0" indent="0" algn="l" rtl="0">
              <a:lnSpc>
                <a:spcPct val="115000"/>
              </a:lnSpc>
              <a:spcBef>
                <a:spcPts val="0"/>
              </a:spcBef>
              <a:spcAft>
                <a:spcPts val="0"/>
              </a:spcAft>
              <a:buNone/>
            </a:pPr>
            <a:r>
              <a:rPr lang="en" sz="1800" b="1">
                <a:solidFill>
                  <a:schemeClr val="dk2"/>
                </a:solidFill>
              </a:rPr>
              <a:t>Morro Bay compared to Eureka</a:t>
            </a:r>
            <a:endParaRPr sz="1800" b="1">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Morro Bay has been involved in drafting mitigation plans for years, further along</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The two areas have distinct characteristics and challenges</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
        <p:nvSpPr>
          <p:cNvPr id="196" name="Google Shape;196;p29"/>
          <p:cNvSpPr txBox="1"/>
          <p:nvPr/>
        </p:nvSpPr>
        <p:spPr>
          <a:xfrm>
            <a:off x="6437775" y="1428725"/>
            <a:ext cx="336300" cy="34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 name="Google Shape;202;p30"/>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Next steps</a:t>
            </a:r>
            <a:endParaRPr>
              <a:solidFill>
                <a:schemeClr val="lt1"/>
              </a:solidFill>
            </a:endParaRPr>
          </a:p>
        </p:txBody>
      </p:sp>
      <p:pic>
        <p:nvPicPr>
          <p:cNvPr id="203" name="Google Shape;203;p30"/>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204" name="Google Shape;204;p30"/>
          <p:cNvSpPr txBox="1"/>
          <p:nvPr/>
        </p:nvSpPr>
        <p:spPr>
          <a:xfrm>
            <a:off x="403400" y="848850"/>
            <a:ext cx="4832700" cy="335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
        <p:nvSpPr>
          <p:cNvPr id="205" name="Google Shape;205;p30"/>
          <p:cNvSpPr txBox="1"/>
          <p:nvPr/>
        </p:nvSpPr>
        <p:spPr>
          <a:xfrm>
            <a:off x="6437775" y="1428725"/>
            <a:ext cx="336300" cy="34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rgbClr val="FF0000"/>
              </a:solidFill>
            </a:endParaRPr>
          </a:p>
        </p:txBody>
      </p:sp>
      <p:sp>
        <p:nvSpPr>
          <p:cNvPr id="206" name="Google Shape;206;p30"/>
          <p:cNvSpPr txBox="1"/>
          <p:nvPr/>
        </p:nvSpPr>
        <p:spPr>
          <a:xfrm>
            <a:off x="403400" y="848850"/>
            <a:ext cx="7505100" cy="335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2"/>
                </a:solidFill>
              </a:rPr>
              <a:t>With participants:</a:t>
            </a:r>
            <a:endParaRPr sz="1800" b="1">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Share summary document for review and feedback</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Prepare final summary for BOEM, as requested by participants</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a:p>
            <a:pPr marL="0" lvl="0" indent="0" algn="l" rtl="0">
              <a:lnSpc>
                <a:spcPct val="115000"/>
              </a:lnSpc>
              <a:spcBef>
                <a:spcPts val="0"/>
              </a:spcBef>
              <a:spcAft>
                <a:spcPts val="0"/>
              </a:spcAft>
              <a:buNone/>
            </a:pPr>
            <a:r>
              <a:rPr lang="en" sz="1800" b="1">
                <a:solidFill>
                  <a:schemeClr val="dk2"/>
                </a:solidFill>
              </a:rPr>
              <a:t>Our research:</a:t>
            </a:r>
            <a:endParaRPr sz="1800" b="1">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a:solidFill>
                  <a:schemeClr val="dk2"/>
                </a:solidFill>
              </a:rPr>
              <a:t>Incorporate participant knowledge and feedback into mitigation assessment</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1"/>
          <p:cNvSpPr/>
          <p:nvPr/>
        </p:nvSpPr>
        <p:spPr>
          <a:xfrm>
            <a:off x="-50" y="198125"/>
            <a:ext cx="9144000" cy="397200"/>
          </a:xfrm>
          <a:prstGeom prst="rect">
            <a:avLst/>
          </a:prstGeom>
          <a:solidFill>
            <a:srgbClr val="3D85C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 name="Google Shape;212;p31"/>
          <p:cNvSpPr txBox="1">
            <a:spLocks noGrp="1"/>
          </p:cNvSpPr>
          <p:nvPr>
            <p:ph type="title"/>
          </p:nvPr>
        </p:nvSpPr>
        <p:spPr>
          <a:xfrm>
            <a:off x="243100" y="117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Thank you for your attention!</a:t>
            </a:r>
            <a:endParaRPr>
              <a:solidFill>
                <a:schemeClr val="lt1"/>
              </a:solidFill>
            </a:endParaRPr>
          </a:p>
        </p:txBody>
      </p:sp>
      <p:pic>
        <p:nvPicPr>
          <p:cNvPr id="213" name="Google Shape;213;p31"/>
          <p:cNvPicPr preferRelativeResize="0"/>
          <p:nvPr/>
        </p:nvPicPr>
        <p:blipFill rotWithShape="1">
          <a:blip r:embed="rId3">
            <a:alphaModFix/>
          </a:blip>
          <a:srcRect/>
          <a:stretch/>
        </p:blipFill>
        <p:spPr>
          <a:xfrm>
            <a:off x="240030" y="4454677"/>
            <a:ext cx="1149281" cy="483907"/>
          </a:xfrm>
          <a:prstGeom prst="rect">
            <a:avLst/>
          </a:prstGeom>
          <a:noFill/>
          <a:ln>
            <a:noFill/>
          </a:ln>
        </p:spPr>
      </p:pic>
      <p:sp>
        <p:nvSpPr>
          <p:cNvPr id="214" name="Google Shape;214;p31"/>
          <p:cNvSpPr txBox="1"/>
          <p:nvPr/>
        </p:nvSpPr>
        <p:spPr>
          <a:xfrm>
            <a:off x="403400" y="848850"/>
            <a:ext cx="4832700" cy="335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800" b="1">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
        <p:nvSpPr>
          <p:cNvPr id="215" name="Google Shape;215;p31"/>
          <p:cNvSpPr txBox="1"/>
          <p:nvPr/>
        </p:nvSpPr>
        <p:spPr>
          <a:xfrm>
            <a:off x="6437775" y="1428725"/>
            <a:ext cx="336300" cy="34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rgbClr val="FF0000"/>
              </a:solidFill>
            </a:endParaRPr>
          </a:p>
        </p:txBody>
      </p:sp>
      <p:sp>
        <p:nvSpPr>
          <p:cNvPr id="216" name="Google Shape;216;p31"/>
          <p:cNvSpPr txBox="1"/>
          <p:nvPr/>
        </p:nvSpPr>
        <p:spPr>
          <a:xfrm>
            <a:off x="403400" y="848850"/>
            <a:ext cx="7505100" cy="33570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800" b="1">
                <a:solidFill>
                  <a:schemeClr val="dk2"/>
                </a:solidFill>
              </a:rPr>
              <a:t>To thank you for you attention, you get lunch tomorrow!</a:t>
            </a:r>
            <a:endParaRPr sz="1800" b="1">
              <a:solidFill>
                <a:schemeClr val="dk2"/>
              </a:solidFill>
            </a:endParaRPr>
          </a:p>
          <a:p>
            <a:pPr marL="457200" lvl="0" indent="-342900" algn="l" rtl="0">
              <a:lnSpc>
                <a:spcPct val="200000"/>
              </a:lnSpc>
              <a:spcBef>
                <a:spcPts val="0"/>
              </a:spcBef>
              <a:spcAft>
                <a:spcPts val="0"/>
              </a:spcAft>
              <a:buClr>
                <a:srgbClr val="666666"/>
              </a:buClr>
              <a:buSzPts val="1800"/>
              <a:buChar char="●"/>
            </a:pPr>
            <a:r>
              <a:rPr lang="en" sz="1800">
                <a:solidFill>
                  <a:srgbClr val="666666"/>
                </a:solidFill>
              </a:rPr>
              <a:t>Menu:</a:t>
            </a:r>
            <a:r>
              <a:rPr lang="en" sz="1800">
                <a:solidFill>
                  <a:srgbClr val="434343"/>
                </a:solidFill>
              </a:rPr>
              <a:t> </a:t>
            </a:r>
            <a:r>
              <a:rPr lang="en" sz="1800" u="sng">
                <a:solidFill>
                  <a:schemeClr val="hlink"/>
                </a:solidFill>
                <a:hlinkClick r:id="rId4"/>
              </a:rPr>
              <a:t>South Coast Deli</a:t>
            </a:r>
            <a:endParaRPr sz="1800">
              <a:solidFill>
                <a:schemeClr val="dk1"/>
              </a:solidFill>
            </a:endParaRPr>
          </a:p>
          <a:p>
            <a:pPr marL="457200" lvl="0" indent="-342900" algn="l" rtl="0">
              <a:lnSpc>
                <a:spcPct val="200000"/>
              </a:lnSpc>
              <a:spcBef>
                <a:spcPts val="0"/>
              </a:spcBef>
              <a:spcAft>
                <a:spcPts val="0"/>
              </a:spcAft>
              <a:buClr>
                <a:srgbClr val="666666"/>
              </a:buClr>
              <a:buSzPts val="1800"/>
              <a:buChar char="●"/>
            </a:pPr>
            <a:r>
              <a:rPr lang="en" sz="1800">
                <a:solidFill>
                  <a:schemeClr val="dk2"/>
                </a:solidFill>
              </a:rPr>
              <a:t>Input your lunch order into the </a:t>
            </a:r>
            <a:r>
              <a:rPr lang="en" sz="1800" u="sng">
                <a:solidFill>
                  <a:schemeClr val="hlink"/>
                </a:solidFill>
                <a:hlinkClick r:id="rId5"/>
              </a:rPr>
              <a:t>lunch spreadsheet</a:t>
            </a:r>
            <a:endParaRPr sz="1800">
              <a:solidFill>
                <a:schemeClr val="dk2"/>
              </a:solidFill>
            </a:endParaRPr>
          </a:p>
          <a:p>
            <a:pPr marL="0" lvl="0" indent="0" algn="l" rtl="0">
              <a:lnSpc>
                <a:spcPct val="115000"/>
              </a:lnSpc>
              <a:spcBef>
                <a:spcPts val="0"/>
              </a:spcBef>
              <a:spcAft>
                <a:spcPts val="0"/>
              </a:spcAft>
              <a:buNone/>
            </a:pPr>
            <a:endParaRPr sz="18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TotalTime>
  <Words>2364</Words>
  <Application>Microsoft Macintosh PowerPoint</Application>
  <PresentationFormat>On-screen Show (16:9)</PresentationFormat>
  <Paragraphs>209</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Simple Light</vt:lpstr>
      <vt:lpstr>  Focus Group Meetings .</vt:lpstr>
      <vt:lpstr>Outline</vt:lpstr>
      <vt:lpstr>Background</vt:lpstr>
      <vt:lpstr>Background</vt:lpstr>
      <vt:lpstr>Background</vt:lpstr>
      <vt:lpstr>Background</vt:lpstr>
      <vt:lpstr>Summary. General themes</vt:lpstr>
      <vt:lpstr>Summary. General themes related to OSW</vt:lpstr>
      <vt:lpstr>Summary. OSW process</vt:lpstr>
      <vt:lpstr>Summary. Challenges</vt:lpstr>
      <vt:lpstr>Summary. Challenges related to OSW</vt:lpstr>
      <vt:lpstr>Summary. Mitigation related to OSW</vt:lpstr>
      <vt:lpstr>Summary. Mitigation more generally</vt:lpstr>
      <vt:lpstr>Summary. Bonus image</vt:lpstr>
      <vt:lpstr>Summary. You’ve made it so far without images…  </vt:lpstr>
      <vt:lpstr>Summary. Mitigation more generally</vt:lpstr>
      <vt:lpstr>Regional differences</vt:lpstr>
      <vt:lpstr>Next steps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 Free</cp:lastModifiedBy>
  <cp:revision>1</cp:revision>
  <dcterms:modified xsi:type="dcterms:W3CDTF">2026-02-27T00:42:31Z</dcterms:modified>
</cp:coreProperties>
</file>